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A768EA3-F2A2-2698-3E8F-0646B183E8CB}">
          <p14:sldIdLst>
            <p14:sldId id="256"/>
          </p14:sldIdLst>
        </p14:section>
        <p14:section name="Problem" id="{4BDD33B4-F328-9FA5-E771-E3ED4931C51E}">
          <p14:sldIdLst>
            <p14:sldId id="257"/>
          </p14:sldIdLst>
        </p14:section>
        <p14:section name="Existing Solutions" id="{231438DB-707F-130F-24B9-7ADFB1F03377}">
          <p14:sldIdLst>
            <p14:sldId id="258"/>
          </p14:sldIdLst>
        </p14:section>
        <p14:section name="Solution" id="{890FD7BC-A5D3-69EC-8A2B-5C5836413337}">
          <p14:sldIdLst>
            <p14:sldId id="259"/>
          </p14:sldIdLst>
        </p14:section>
        <p14:section name="Technology" id="{2BE7DC95-3B7C-77A9-A4FF-5914BE4515B6}">
          <p14:sldIdLst>
            <p14:sldId id="260"/>
          </p14:sldIdLst>
        </p14:section>
        <p14:section name="Future" id="{76561244-A061-1069-D893-6A2C3DFB15EF}">
          <p14:sldIdLst>
            <p14:sldId id="261"/>
          </p14:sldIdLst>
        </p14:section>
        <p14:section name="Conclusion" id="{C7F693E0-6B5C-B2CE-E1EB-162BA7C0356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10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10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Introduce the team and project. CertVerify is our solution to Problem 79: a MERN-based system where organizations issue certificates and anyone can verify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Explain the core need: issue certificates and verify them reliably. Stress the three practical pain points: forgery, slow verification and scattered records.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Walk through each current approach and its limitation. Close with the gap our project fills.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Our idea in one line, then four features. Finish with the three-step flow: admin issues, verifier checks by ID, system returns the status.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Walk through the architecture left to right. React is the UI, Express exposes REST APIs and checks the JWT token and role, MongoDB stores users and certificates. Then show the certificate fields and the main routes. Verification is the only public route besides login.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Highlight what is unique: public verification, a SHA-256 fingerprint to detect changed records, and revocation with history. Then future ideas. Be honest on feasibility: it is standard MERN and fits the hackathon timeline.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Recap the three takeaways and expected impact,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1F5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25880"/>
            <a:ext cx="4389120" cy="822960"/>
          </a:xfrm>
          <a:prstGeom prst="rect">
            <a:avLst/>
          </a:prstGeom>
          <a:noFill/>
          <a:ln/>
        </p:spPr>
        <p:txBody>
          <a:bodyPr wrap="square" rtlCol="0"/>
          <a:lstStyle>
            <a:lvl1pPr marL="0" indent="0" algn="l">
              <a:buNone/>
              <a:defRPr lang="en-US" sz="4600" b="1" dirty="0">
                <a:solidFill>
                  <a:schemeClr val="tx1"/>
                </a:solidFill>
                <a:latin typeface="Arial" pitchFamily="34" charset="0"/>
                <a:ea typeface="Arial" pitchFamily="34" charset="-122"/>
                <a:cs typeface="Arial" pitchFamily="34" charset="-120"/>
              </a:defRPr>
            </a:lvl1pPr>
          </a:lstStyle>
          <a:p>
            <a:pPr marL="0" indent="0" algn="l">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914400"/>
            <a:ext cx="548640" cy="45720"/>
          </a:xfrm>
          <a:prstGeom prst="rect">
            <a:avLst/>
          </a:prstGeom>
          <a:solidFill>
            <a:srgbClr val="F59E0B"/>
          </a:solidFill>
          <a:ln/>
        </p:spPr>
        <p:txBody>
          <a:bodyPr/>
          <a:lstStyle/>
          <a:p>
            <a:endParaRPr lang="en-IN" dirty="0"/>
          </a:p>
        </p:txBody>
      </p:sp>
      <p:sp>
        <p:nvSpPr>
          <p:cNvPr id="3" name="Text 1"/>
          <p:cNvSpPr>
            <a:spLocks noGrp="1"/>
          </p:cNvSpPr>
          <p:nvPr>
            <p:ph type="title" idx="101" hasCustomPrompt="1"/>
          </p:nvPr>
        </p:nvSpPr>
        <p:spPr>
          <a:xfrm>
            <a:off x="457200" y="274320"/>
            <a:ext cx="8229600" cy="594360"/>
          </a:xfrm>
          <a:prstGeom prst="rect">
            <a:avLst/>
          </a:prstGeom>
          <a:noFill/>
          <a:ln/>
        </p:spPr>
        <p:txBody>
          <a:bodyPr wrap="square" rtlCol="0"/>
          <a:lstStyle>
            <a:lvl1pPr marL="0" indent="0" algn="l">
              <a:buNone/>
              <a:defRPr lang="en-US" sz="2800" b="1" dirty="0">
                <a:solidFill>
                  <a:schemeClr val="tx1"/>
                </a:solidFill>
                <a:latin typeface="Arial" pitchFamily="34" charset="0"/>
                <a:ea typeface="Arial" pitchFamily="34" charset="-122"/>
                <a:cs typeface="Arial" pitchFamily="34" charset="-120"/>
              </a:defRPr>
            </a:lvl1pPr>
          </a:lstStyle>
          <a:p>
            <a:pPr marL="0" indent="0" algn="l">
              <a:buNone/>
            </a:pPr>
            <a:endParaRPr lang="en-US" sz="2800" dirty="0"/>
          </a:p>
        </p:txBody>
      </p:sp>
      <p:sp>
        <p:nvSpPr>
          <p:cNvPr id="4" name="Text 1"/>
          <p:cNvSpPr/>
          <p:nvPr/>
        </p:nvSpPr>
        <p:spPr>
          <a:xfrm>
            <a:off x="457200" y="4736592"/>
            <a:ext cx="5486400" cy="274320"/>
          </a:xfrm>
          <a:prstGeom prst="rect">
            <a:avLst/>
          </a:prstGeom>
          <a:noFill/>
          <a:ln/>
        </p:spPr>
        <p:txBody>
          <a:bodyPr wrap="square" lIns="0" tIns="0" rIns="0" bIns="0" rtlCol="0" anchor="ctr"/>
          <a:lstStyle/>
          <a:p>
            <a:pPr marL="0" indent="0">
              <a:buNone/>
            </a:pPr>
            <a:r>
              <a:rPr lang="en-US" sz="900" dirty="0">
                <a:solidFill>
                  <a:srgbClr val="64748B"/>
                </a:solidFill>
              </a:rPr>
              <a:t>CertVerify  |  Digital Certificate Verification</a:t>
            </a:r>
            <a:endParaRPr lang="en-US" sz="9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438912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BWT HACKATHON  |  PROBLEM 79</a:t>
            </a:r>
            <a:endParaRPr lang="en-US" sz="1200" dirty="0"/>
          </a:p>
        </p:txBody>
      </p:sp>
      <p:sp>
        <p:nvSpPr>
          <p:cNvPr id="3" name="Text 0"/>
          <p:cNvSpPr>
            <a:spLocks noGrp="1"/>
          </p:cNvSpPr>
          <p:nvPr>
            <p:ph type="title" idx="100" hasCustomPrompt="1"/>
          </p:nvPr>
        </p:nvSpPr>
        <p:spPr>
          <a:xfrm>
            <a:off x="548640" y="1325880"/>
            <a:ext cx="4389120" cy="822960"/>
          </a:xfrm>
          <a:prstGeom prst="rect">
            <a:avLst/>
          </a:prstGeom>
          <a:noFill/>
          <a:ln/>
        </p:spPr>
        <p:txBody>
          <a:bodyPr wrap="square" lIns="0" tIns="0" rIns="0" bIns="0" rtlCol="0" anchor="ctr"/>
          <a:lstStyle/>
          <a:p>
            <a:pPr marL="0" indent="0" algn="l">
              <a:buNone/>
            </a:pPr>
            <a:r>
              <a:rPr lang="en-US" sz="4600" b="1" dirty="0">
                <a:solidFill>
                  <a:schemeClr val="tx1"/>
                </a:solidFill>
                <a:latin typeface="Arial" pitchFamily="34" charset="0"/>
                <a:ea typeface="Arial" pitchFamily="34" charset="-122"/>
                <a:cs typeface="Arial" pitchFamily="34" charset="-120"/>
              </a:rPr>
              <a:t>CertiVerify</a:t>
            </a:r>
            <a:endParaRPr lang="en-US" sz="4600" dirty="0"/>
          </a:p>
        </p:txBody>
      </p:sp>
      <p:sp>
        <p:nvSpPr>
          <p:cNvPr id="4" name="Text 2"/>
          <p:cNvSpPr txBox="1"/>
          <p:nvPr/>
        </p:nvSpPr>
        <p:spPr>
          <a:xfrm>
            <a:off x="548640" y="2240280"/>
            <a:ext cx="4206240" cy="640080"/>
          </a:xfrm>
          <a:prstGeom prst="rect">
            <a:avLst/>
          </a:prstGeom>
          <a:noFill/>
          <a:ln/>
        </p:spPr>
        <p:txBody>
          <a:bodyPr wrap="square" lIns="0" tIns="0" rIns="0" bIns="0" rtlCol="0" anchor="t"/>
          <a:lstStyle/>
          <a:p>
            <a:pPr marL="0" indent="0">
              <a:buNone/>
            </a:pPr>
            <a:r>
              <a:rPr lang="en-US" sz="1800" dirty="0">
                <a:solidFill>
                  <a:schemeClr val="accent3"/>
                </a:solidFill>
              </a:rPr>
              <a:t>Issue, manage and verify digital certificates in seconds.</a:t>
            </a:r>
            <a:endParaRPr lang="en-US" sz="1800" dirty="0"/>
          </a:p>
        </p:txBody>
      </p:sp>
      <p:sp>
        <p:nvSpPr>
          <p:cNvPr id="5" name="Shape 3"/>
          <p:cNvSpPr/>
          <p:nvPr/>
        </p:nvSpPr>
        <p:spPr>
          <a:xfrm>
            <a:off x="548640" y="3154680"/>
            <a:ext cx="731520" cy="0"/>
          </a:xfrm>
          <a:prstGeom prst="line">
            <a:avLst/>
          </a:prstGeom>
          <a:noFill/>
          <a:ln w="25400">
            <a:solidFill>
              <a:srgbClr val="F59E0B"/>
            </a:solidFill>
            <a:prstDash val="solid"/>
          </a:ln>
        </p:spPr>
        <p:txBody>
          <a:bodyPr/>
          <a:lstStyle/>
          <a:p>
            <a:endParaRPr lang="en-IN" dirty="0"/>
          </a:p>
        </p:txBody>
      </p:sp>
      <p:sp>
        <p:nvSpPr>
          <p:cNvPr id="6" name="Text 4"/>
          <p:cNvSpPr txBox="1"/>
          <p:nvPr/>
        </p:nvSpPr>
        <p:spPr>
          <a:xfrm>
            <a:off x="548640" y="3337559"/>
            <a:ext cx="4206240" cy="1452803"/>
          </a:xfrm>
          <a:prstGeom prst="rect">
            <a:avLst/>
          </a:prstGeom>
          <a:noFill/>
          <a:ln/>
        </p:spPr>
        <p:txBody>
          <a:bodyPr wrap="square" lIns="0" tIns="0" rIns="0" bIns="0" rtlCol="0" anchor="t"/>
          <a:lstStyle/>
          <a:p>
            <a:pPr marL="0" indent="0">
              <a:buNone/>
            </a:pPr>
            <a:r>
              <a:rPr lang="en-US" sz="1200" b="1" dirty="0">
                <a:solidFill>
                  <a:schemeClr val="accent1"/>
                </a:solidFill>
              </a:rPr>
              <a:t>Team</a:t>
            </a:r>
            <a:endParaRPr lang="en-US" sz="1600" dirty="0"/>
          </a:p>
          <a:p>
            <a:pPr marL="0" indent="0">
              <a:buNone/>
            </a:pPr>
            <a:r>
              <a:rPr lang="en-US" sz="1600" dirty="0"/>
              <a:t>Manthan Mahadev Biradar</a:t>
            </a:r>
          </a:p>
          <a:p>
            <a:pPr marL="0" indent="0">
              <a:buNone/>
            </a:pPr>
            <a:r>
              <a:rPr lang="en-US" sz="1600" dirty="0"/>
              <a:t>Yashvardhan Singh Gaur</a:t>
            </a:r>
          </a:p>
          <a:p>
            <a:pPr marL="0" indent="0">
              <a:buNone/>
            </a:pPr>
            <a:r>
              <a:rPr lang="en-US" sz="1600" dirty="0"/>
              <a:t>Biswajit Behera</a:t>
            </a:r>
          </a:p>
          <a:p>
            <a:pPr marL="0" indent="0">
              <a:buNone/>
            </a:pPr>
            <a:r>
              <a:rPr lang="en-US" sz="1600" dirty="0">
                <a:solidFill>
                  <a:schemeClr val="tx1"/>
                </a:solidFill>
              </a:rPr>
              <a:t>Jampala Purnasena</a:t>
            </a:r>
            <a:endParaRPr lang="en-US" sz="1600" dirty="0"/>
          </a:p>
        </p:txBody>
      </p:sp>
      <p:sp>
        <p:nvSpPr>
          <p:cNvPr id="7" name="Text 5"/>
          <p:cNvSpPr txBox="1"/>
          <p:nvPr/>
        </p:nvSpPr>
        <p:spPr>
          <a:xfrm>
            <a:off x="548640" y="4836080"/>
            <a:ext cx="4389120" cy="274320"/>
          </a:xfrm>
          <a:prstGeom prst="rect">
            <a:avLst/>
          </a:prstGeom>
          <a:noFill/>
          <a:ln/>
        </p:spPr>
        <p:txBody>
          <a:bodyPr wrap="square" lIns="0" tIns="0" rIns="0" bIns="0" rtlCol="0" anchor="t"/>
          <a:lstStyle/>
          <a:p>
            <a:pPr marL="0" indent="0">
              <a:buNone/>
            </a:pPr>
            <a:r>
              <a:rPr lang="en-US" sz="1200" dirty="0">
                <a:solidFill>
                  <a:schemeClr val="accent4"/>
                </a:solidFill>
              </a:rPr>
              <a:t>MERN Stack  |  MongoDB, Express, React, Node.js</a:t>
            </a:r>
            <a:endParaRPr lang="en-US" sz="1200" dirty="0"/>
          </a:p>
        </p:txBody>
      </p:sp>
      <p:sp>
        <p:nvSpPr>
          <p:cNvPr id="8" name="Certificate card"/>
          <p:cNvSpPr/>
          <p:nvPr/>
        </p:nvSpPr>
        <p:spPr>
          <a:xfrm>
            <a:off x="5212080" y="960120"/>
            <a:ext cx="3474720" cy="2743200"/>
          </a:xfrm>
          <a:prstGeom prst="roundRect">
            <a:avLst>
              <a:gd name="adj" fmla="val 2667"/>
            </a:avLst>
          </a:prstGeom>
          <a:solidFill>
            <a:srgbClr val="FFFFFF"/>
          </a:solidFill>
          <a:ln w="12700">
            <a:solidFill>
              <a:srgbClr val="CBD5E1"/>
            </a:solidFill>
            <a:prstDash val="solid"/>
          </a:ln>
        </p:spPr>
        <p:txBody>
          <a:bodyPr/>
          <a:lstStyle/>
          <a:p>
            <a:endParaRPr lang="en-IN" dirty="0"/>
          </a:p>
        </p:txBody>
      </p:sp>
      <p:sp>
        <p:nvSpPr>
          <p:cNvPr id="9" name="Certificate border"/>
          <p:cNvSpPr/>
          <p:nvPr/>
        </p:nvSpPr>
        <p:spPr>
          <a:xfrm>
            <a:off x="5394960" y="1143000"/>
            <a:ext cx="3108960" cy="2377440"/>
          </a:xfrm>
          <a:prstGeom prst="rect">
            <a:avLst/>
          </a:prstGeom>
          <a:solidFill>
            <a:srgbClr val="FFFFFF"/>
          </a:solidFill>
          <a:ln w="19050">
            <a:solidFill>
              <a:srgbClr val="F59E0B"/>
            </a:solidFill>
            <a:prstDash val="solid"/>
          </a:ln>
        </p:spPr>
        <p:txBody>
          <a:bodyPr/>
          <a:lstStyle/>
          <a:p>
            <a:endParaRPr lang="en-IN" dirty="0"/>
          </a:p>
        </p:txBody>
      </p:sp>
      <p:sp>
        <p:nvSpPr>
          <p:cNvPr id="10" name="Text 8"/>
          <p:cNvSpPr txBox="1"/>
          <p:nvPr/>
        </p:nvSpPr>
        <p:spPr>
          <a:xfrm>
            <a:off x="5394960" y="1371600"/>
            <a:ext cx="3108960" cy="274320"/>
          </a:xfrm>
          <a:prstGeom prst="rect">
            <a:avLst/>
          </a:prstGeom>
          <a:noFill/>
          <a:ln/>
        </p:spPr>
        <p:txBody>
          <a:bodyPr wrap="square" lIns="0" tIns="0" rIns="0" bIns="0" rtlCol="0" anchor="t"/>
          <a:lstStyle/>
          <a:p>
            <a:pPr marL="0" indent="0" algn="ctr">
              <a:buNone/>
            </a:pPr>
            <a:r>
              <a:rPr lang="en-US" sz="1200" b="1" kern="0" spc="100" dirty="0">
                <a:solidFill>
                  <a:schemeClr val="accent1"/>
                </a:solidFill>
              </a:rPr>
              <a:t>CERTIFICATE OF COMPLETION</a:t>
            </a:r>
            <a:endParaRPr lang="en-US" sz="1200" dirty="0"/>
          </a:p>
        </p:txBody>
      </p:sp>
      <p:sp>
        <p:nvSpPr>
          <p:cNvPr id="11" name="Text 9"/>
          <p:cNvSpPr txBox="1"/>
          <p:nvPr/>
        </p:nvSpPr>
        <p:spPr>
          <a:xfrm>
            <a:off x="5394960" y="1783080"/>
            <a:ext cx="3108960" cy="320040"/>
          </a:xfrm>
          <a:prstGeom prst="rect">
            <a:avLst/>
          </a:prstGeom>
          <a:noFill/>
          <a:ln/>
        </p:spPr>
        <p:txBody>
          <a:bodyPr wrap="square" lIns="0" tIns="0" rIns="0" bIns="0" rtlCol="0" anchor="t"/>
          <a:lstStyle/>
          <a:p>
            <a:pPr marL="0" indent="0" algn="ctr">
              <a:buNone/>
            </a:pPr>
            <a:r>
              <a:rPr lang="en-US" sz="1800" b="1" dirty="0">
                <a:solidFill>
                  <a:schemeClr val="tx1"/>
                </a:solidFill>
                <a:latin typeface="Arial" pitchFamily="34" charset="0"/>
                <a:ea typeface="Arial" pitchFamily="34" charset="-122"/>
                <a:cs typeface="Arial" pitchFamily="34" charset="-120"/>
              </a:rPr>
              <a:t>Student Name</a:t>
            </a:r>
            <a:endParaRPr lang="en-US" sz="1800" dirty="0"/>
          </a:p>
        </p:txBody>
      </p:sp>
      <p:sp>
        <p:nvSpPr>
          <p:cNvPr id="12" name="Shape 10"/>
          <p:cNvSpPr/>
          <p:nvPr/>
        </p:nvSpPr>
        <p:spPr>
          <a:xfrm>
            <a:off x="5943600" y="2286000"/>
            <a:ext cx="2011680" cy="64008"/>
          </a:xfrm>
          <a:prstGeom prst="rect">
            <a:avLst/>
          </a:prstGeom>
          <a:solidFill>
            <a:srgbClr val="CBD5E1"/>
          </a:solidFill>
          <a:ln w="12700">
            <a:solidFill>
              <a:srgbClr val="CBD5E1"/>
            </a:solidFill>
            <a:prstDash val="solid"/>
          </a:ln>
        </p:spPr>
        <p:txBody>
          <a:bodyPr/>
          <a:lstStyle/>
          <a:p>
            <a:endParaRPr lang="en-IN" dirty="0"/>
          </a:p>
        </p:txBody>
      </p:sp>
      <p:sp>
        <p:nvSpPr>
          <p:cNvPr id="13" name="Shape 11"/>
          <p:cNvSpPr/>
          <p:nvPr/>
        </p:nvSpPr>
        <p:spPr>
          <a:xfrm>
            <a:off x="6172200" y="2487168"/>
            <a:ext cx="1554480" cy="64008"/>
          </a:xfrm>
          <a:prstGeom prst="rect">
            <a:avLst/>
          </a:prstGeom>
          <a:solidFill>
            <a:srgbClr val="CBD5E1"/>
          </a:solidFill>
          <a:ln w="12700">
            <a:solidFill>
              <a:srgbClr val="CBD5E1"/>
            </a:solidFill>
            <a:prstDash val="solid"/>
          </a:ln>
        </p:spPr>
        <p:txBody>
          <a:bodyPr/>
          <a:lstStyle/>
          <a:p>
            <a:endParaRPr lang="en-IN" dirty="0"/>
          </a:p>
        </p:txBody>
      </p:sp>
      <p:sp>
        <p:nvSpPr>
          <p:cNvPr id="14" name="Text 12"/>
          <p:cNvSpPr txBox="1"/>
          <p:nvPr/>
        </p:nvSpPr>
        <p:spPr>
          <a:xfrm>
            <a:off x="5623560" y="3063240"/>
            <a:ext cx="1828800" cy="228600"/>
          </a:xfrm>
          <a:prstGeom prst="rect">
            <a:avLst/>
          </a:prstGeom>
          <a:noFill/>
          <a:ln/>
        </p:spPr>
        <p:txBody>
          <a:bodyPr wrap="square" lIns="0" tIns="0" rIns="0" bIns="0" rtlCol="0" anchor="t"/>
          <a:lstStyle/>
          <a:p>
            <a:pPr marL="0" indent="0">
              <a:buNone/>
            </a:pPr>
            <a:r>
              <a:rPr lang="en-US" sz="1100" dirty="0">
                <a:solidFill>
                  <a:schemeClr val="accent4"/>
                </a:solidFill>
              </a:rPr>
              <a:t>ID: CERT-2026-0001</a:t>
            </a:r>
            <a:endParaRPr lang="en-US" sz="1100" dirty="0"/>
          </a:p>
        </p:txBody>
      </p:sp>
      <p:sp>
        <p:nvSpPr>
          <p:cNvPr id="15" name="Shape 13"/>
          <p:cNvSpPr/>
          <p:nvPr/>
        </p:nvSpPr>
        <p:spPr>
          <a:xfrm>
            <a:off x="7726680" y="2743200"/>
            <a:ext cx="594360" cy="594360"/>
          </a:xfrm>
          <a:prstGeom prst="ellipse">
            <a:avLst/>
          </a:prstGeom>
          <a:solidFill>
            <a:srgbClr val="F59E0B"/>
          </a:solidFill>
          <a:ln w="12700">
            <a:solidFill>
              <a:srgbClr val="F59E0B"/>
            </a:solidFill>
            <a:prstDash val="solid"/>
          </a:ln>
        </p:spPr>
        <p:txBody>
          <a:bodyPr/>
          <a:lstStyle/>
          <a:p>
            <a:endParaRPr lang="en-IN" dirty="0"/>
          </a:p>
        </p:txBody>
      </p:sp>
      <p:pic>
        <p:nvPicPr>
          <p:cNvPr id="16" name="Image 0" descr="preencoded.png"/>
          <p:cNvPicPr>
            <a:picLocks noChangeAspect="1"/>
          </p:cNvPicPr>
          <p:nvPr/>
        </p:nvPicPr>
        <p:blipFill>
          <a:blip r:embed="rId3"/>
          <a:stretch>
            <a:fillRect/>
          </a:stretch>
        </p:blipFill>
        <p:spPr>
          <a:xfrm>
            <a:off x="7887157" y="2903677"/>
            <a:ext cx="273406" cy="273406"/>
          </a:xfrm>
          <a:prstGeom prst="rect">
            <a:avLst/>
          </a:prstGeom>
        </p:spPr>
      </p:pic>
      <p:sp>
        <p:nvSpPr>
          <p:cNvPr id="17" name="Verified badge"/>
          <p:cNvSpPr/>
          <p:nvPr/>
        </p:nvSpPr>
        <p:spPr>
          <a:xfrm>
            <a:off x="6995160" y="749808"/>
            <a:ext cx="1508760" cy="384048"/>
          </a:xfrm>
          <a:prstGeom prst="roundRect">
            <a:avLst>
              <a:gd name="adj" fmla="val 19048"/>
            </a:avLst>
          </a:prstGeom>
          <a:solidFill>
            <a:srgbClr val="16A34A"/>
          </a:solidFill>
          <a:ln w="12700">
            <a:solidFill>
              <a:srgbClr val="16A34A"/>
            </a:solidFill>
            <a:prstDash val="solid"/>
          </a:ln>
        </p:spPr>
        <p:txBody>
          <a:bodyPr/>
          <a:lstStyle/>
          <a:p>
            <a:endParaRPr lang="en-IN" dirty="0"/>
          </a:p>
        </p:txBody>
      </p:sp>
      <p:pic>
        <p:nvPicPr>
          <p:cNvPr id="18" name="Image 1" descr="preencoded.png"/>
          <p:cNvPicPr>
            <a:picLocks noChangeAspect="1"/>
          </p:cNvPicPr>
          <p:nvPr/>
        </p:nvPicPr>
        <p:blipFill>
          <a:blip r:embed="rId4"/>
          <a:stretch>
            <a:fillRect/>
          </a:stretch>
        </p:blipFill>
        <p:spPr>
          <a:xfrm>
            <a:off x="7132320" y="859536"/>
            <a:ext cx="164592" cy="164592"/>
          </a:xfrm>
          <a:prstGeom prst="rect">
            <a:avLst/>
          </a:prstGeom>
        </p:spPr>
      </p:pic>
      <p:sp>
        <p:nvSpPr>
          <p:cNvPr id="19" name="Text 15"/>
          <p:cNvSpPr txBox="1"/>
          <p:nvPr/>
        </p:nvSpPr>
        <p:spPr>
          <a:xfrm>
            <a:off x="7360920" y="749808"/>
            <a:ext cx="1097280" cy="384048"/>
          </a:xfrm>
          <a:prstGeom prst="rect">
            <a:avLst/>
          </a:prstGeom>
          <a:noFill/>
          <a:ln/>
        </p:spPr>
        <p:txBody>
          <a:bodyPr wrap="square" lIns="0" tIns="0" rIns="0" bIns="0" rtlCol="0" anchor="ctr"/>
          <a:lstStyle/>
          <a:p>
            <a:pPr marL="0" indent="0">
              <a:buNone/>
            </a:pPr>
            <a:r>
              <a:rPr lang="en-US" sz="1300" b="1" dirty="0">
                <a:solidFill>
                  <a:schemeClr val="bg1"/>
                </a:solidFill>
              </a:rPr>
              <a:t>Verified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Problem Statement</a:t>
            </a:r>
            <a:endParaRPr lang="en-US" sz="2800" dirty="0"/>
          </a:p>
        </p:txBody>
      </p:sp>
      <p:sp>
        <p:nvSpPr>
          <p:cNvPr id="3" name="Text 1"/>
          <p:cNvSpPr txBox="1"/>
          <p:nvPr/>
        </p:nvSpPr>
        <p:spPr>
          <a:xfrm>
            <a:off x="457200" y="118872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The problem</a:t>
            </a:r>
            <a:endParaRPr lang="en-US" sz="1500" dirty="0"/>
          </a:p>
        </p:txBody>
      </p:sp>
      <p:sp>
        <p:nvSpPr>
          <p:cNvPr id="4" name="Text 2"/>
          <p:cNvSpPr txBox="1"/>
          <p:nvPr/>
        </p:nvSpPr>
        <p:spPr>
          <a:xfrm>
            <a:off x="457200" y="1554480"/>
            <a:ext cx="3931920" cy="10972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Organizations need a reliable way to issue certificates</a:t>
            </a:r>
            <a:endParaRPr lang="en-US" sz="1500" dirty="0"/>
          </a:p>
          <a:p>
            <a:pPr marL="203200" indent="-203200">
              <a:spcAft>
                <a:spcPts val="600"/>
              </a:spcAft>
              <a:buSzPct val="100000"/>
              <a:buChar char="•"/>
            </a:pPr>
            <a:r>
              <a:rPr lang="en-US" sz="1500" dirty="0">
                <a:solidFill>
                  <a:schemeClr val="tx1"/>
                </a:solidFill>
              </a:rPr>
              <a:t>Others must be able to check that a certificate is genuine</a:t>
            </a:r>
            <a:endParaRPr lang="en-US" sz="1500" dirty="0"/>
          </a:p>
        </p:txBody>
      </p:sp>
      <p:sp>
        <p:nvSpPr>
          <p:cNvPr id="5" name="Text 3"/>
          <p:cNvSpPr txBox="1"/>
          <p:nvPr/>
        </p:nvSpPr>
        <p:spPr>
          <a:xfrm>
            <a:off x="457200" y="283464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Why it matters</a:t>
            </a:r>
            <a:endParaRPr lang="en-US" sz="1500" dirty="0"/>
          </a:p>
        </p:txBody>
      </p:sp>
      <p:sp>
        <p:nvSpPr>
          <p:cNvPr id="6" name="Text 4"/>
          <p:cNvSpPr txBox="1"/>
          <p:nvPr/>
        </p:nvSpPr>
        <p:spPr>
          <a:xfrm>
            <a:off x="457200" y="3200400"/>
            <a:ext cx="3931920" cy="11887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Employers and institutions rely on certificates to make decisions</a:t>
            </a:r>
            <a:endParaRPr lang="en-US" sz="1500" dirty="0"/>
          </a:p>
          <a:p>
            <a:pPr marL="203200" indent="-203200">
              <a:spcAft>
                <a:spcPts val="600"/>
              </a:spcAft>
              <a:buSzPct val="100000"/>
              <a:buChar char="•"/>
            </a:pPr>
            <a:r>
              <a:rPr lang="en-US" sz="1500" dirty="0">
                <a:solidFill>
                  <a:schemeClr val="tx1"/>
                </a:solidFill>
              </a:rPr>
              <a:t>Manual checks are slow and easy to get wrong</a:t>
            </a:r>
            <a:endParaRPr lang="en-US" sz="1500" dirty="0"/>
          </a:p>
        </p:txBody>
      </p:sp>
      <p:sp>
        <p:nvSpPr>
          <p:cNvPr id="7" name="Challenge 1"/>
          <p:cNvSpPr/>
          <p:nvPr/>
        </p:nvSpPr>
        <p:spPr>
          <a:xfrm>
            <a:off x="4754880" y="1188720"/>
            <a:ext cx="3931920" cy="914400"/>
          </a:xfrm>
          <a:prstGeom prst="roundRect">
            <a:avLst>
              <a:gd name="adj" fmla="val 8000"/>
            </a:avLst>
          </a:prstGeom>
          <a:solidFill>
            <a:srgbClr val="F1F5F9"/>
          </a:solidFill>
          <a:ln w="12700">
            <a:solidFill>
              <a:srgbClr val="F1F5F9"/>
            </a:solidFill>
            <a:prstDash val="solid"/>
          </a:ln>
        </p:spPr>
        <p:txBody>
          <a:bodyPr/>
          <a:lstStyle/>
          <a:p>
            <a:endParaRPr lang="en-IN" dirty="0"/>
          </a:p>
        </p:txBody>
      </p:sp>
      <p:sp>
        <p:nvSpPr>
          <p:cNvPr id="8" name="Shape 6"/>
          <p:cNvSpPr/>
          <p:nvPr/>
        </p:nvSpPr>
        <p:spPr>
          <a:xfrm>
            <a:off x="4937760" y="1371600"/>
            <a:ext cx="548640" cy="548640"/>
          </a:xfrm>
          <a:prstGeom prst="ellipse">
            <a:avLst/>
          </a:prstGeom>
          <a:solidFill>
            <a:srgbClr val="0F766E"/>
          </a:solidFill>
          <a:ln w="12700">
            <a:solidFill>
              <a:srgbClr val="0F766E"/>
            </a:solidFill>
            <a:prstDash val="solid"/>
          </a:ln>
        </p:spPr>
        <p:txBody>
          <a:bodyPr/>
          <a:lstStyle/>
          <a:p>
            <a:endParaRPr lang="en-IN" dirty="0"/>
          </a:p>
        </p:txBody>
      </p:sp>
      <p:pic>
        <p:nvPicPr>
          <p:cNvPr id="9" name="Image 0" descr="preencoded.png"/>
          <p:cNvPicPr>
            <a:picLocks noChangeAspect="1"/>
          </p:cNvPicPr>
          <p:nvPr/>
        </p:nvPicPr>
        <p:blipFill>
          <a:blip r:embed="rId3"/>
          <a:stretch>
            <a:fillRect/>
          </a:stretch>
        </p:blipFill>
        <p:spPr>
          <a:xfrm>
            <a:off x="5085893" y="1519733"/>
            <a:ext cx="252374" cy="252374"/>
          </a:xfrm>
          <a:prstGeom prst="rect">
            <a:avLst/>
          </a:prstGeom>
        </p:spPr>
      </p:pic>
      <p:sp>
        <p:nvSpPr>
          <p:cNvPr id="10" name="Text 7"/>
          <p:cNvSpPr txBox="1"/>
          <p:nvPr/>
        </p:nvSpPr>
        <p:spPr>
          <a:xfrm>
            <a:off x="5669280" y="1344168"/>
            <a:ext cx="2926080" cy="274320"/>
          </a:xfrm>
          <a:prstGeom prst="rect">
            <a:avLst/>
          </a:prstGeom>
          <a:noFill/>
          <a:ln/>
        </p:spPr>
        <p:txBody>
          <a:bodyPr wrap="square" lIns="0" tIns="0" rIns="0" bIns="0" rtlCol="0" anchor="t"/>
          <a:lstStyle/>
          <a:p>
            <a:pPr marL="0" indent="0">
              <a:buNone/>
            </a:pPr>
            <a:r>
              <a:rPr lang="en-US" sz="1600" b="1" dirty="0">
                <a:solidFill>
                  <a:schemeClr val="tx1"/>
                </a:solidFill>
              </a:rPr>
              <a:t>Forgery risk</a:t>
            </a:r>
            <a:endParaRPr lang="en-US" sz="1600" dirty="0"/>
          </a:p>
        </p:txBody>
      </p:sp>
      <p:sp>
        <p:nvSpPr>
          <p:cNvPr id="11" name="Text 8"/>
          <p:cNvSpPr txBox="1"/>
          <p:nvPr/>
        </p:nvSpPr>
        <p:spPr>
          <a:xfrm>
            <a:off x="5669280" y="1645920"/>
            <a:ext cx="2926080" cy="365760"/>
          </a:xfrm>
          <a:prstGeom prst="rect">
            <a:avLst/>
          </a:prstGeom>
          <a:noFill/>
          <a:ln/>
        </p:spPr>
        <p:txBody>
          <a:bodyPr wrap="square" lIns="0" tIns="0" rIns="0" bIns="0" rtlCol="0" anchor="t"/>
          <a:lstStyle/>
          <a:p>
            <a:pPr marL="0" indent="0">
              <a:buNone/>
            </a:pPr>
            <a:r>
              <a:rPr lang="en-US" sz="1300" dirty="0">
                <a:solidFill>
                  <a:schemeClr val="accent3"/>
                </a:solidFill>
              </a:rPr>
              <a:t>Printed or PDF copies are easy to alter</a:t>
            </a:r>
            <a:endParaRPr lang="en-US" sz="1300" dirty="0"/>
          </a:p>
        </p:txBody>
      </p:sp>
      <p:sp>
        <p:nvSpPr>
          <p:cNvPr id="12" name="Challenge 2"/>
          <p:cNvSpPr/>
          <p:nvPr/>
        </p:nvSpPr>
        <p:spPr>
          <a:xfrm>
            <a:off x="4754880" y="2286000"/>
            <a:ext cx="3931920" cy="914400"/>
          </a:xfrm>
          <a:prstGeom prst="roundRect">
            <a:avLst>
              <a:gd name="adj" fmla="val 8000"/>
            </a:avLst>
          </a:prstGeom>
          <a:solidFill>
            <a:srgbClr val="F1F5F9"/>
          </a:solidFill>
          <a:ln w="12700">
            <a:solidFill>
              <a:srgbClr val="F1F5F9"/>
            </a:solidFill>
            <a:prstDash val="solid"/>
          </a:ln>
        </p:spPr>
        <p:txBody>
          <a:bodyPr/>
          <a:lstStyle/>
          <a:p>
            <a:endParaRPr lang="en-IN" dirty="0"/>
          </a:p>
        </p:txBody>
      </p:sp>
      <p:sp>
        <p:nvSpPr>
          <p:cNvPr id="13" name="Shape 10"/>
          <p:cNvSpPr/>
          <p:nvPr/>
        </p:nvSpPr>
        <p:spPr>
          <a:xfrm>
            <a:off x="4937760" y="2468880"/>
            <a:ext cx="548640" cy="548640"/>
          </a:xfrm>
          <a:prstGeom prst="ellipse">
            <a:avLst/>
          </a:prstGeom>
          <a:solidFill>
            <a:srgbClr val="0F766E"/>
          </a:solidFill>
          <a:ln w="12700">
            <a:solidFill>
              <a:srgbClr val="0F766E"/>
            </a:solidFill>
            <a:prstDash val="solid"/>
          </a:ln>
        </p:spPr>
        <p:txBody>
          <a:bodyPr/>
          <a:lstStyle/>
          <a:p>
            <a:endParaRPr lang="en-IN" dirty="0"/>
          </a:p>
        </p:txBody>
      </p:sp>
      <p:pic>
        <p:nvPicPr>
          <p:cNvPr id="14" name="Image 1" descr="preencoded.png"/>
          <p:cNvPicPr>
            <a:picLocks noChangeAspect="1"/>
          </p:cNvPicPr>
          <p:nvPr/>
        </p:nvPicPr>
        <p:blipFill>
          <a:blip r:embed="rId4"/>
          <a:stretch>
            <a:fillRect/>
          </a:stretch>
        </p:blipFill>
        <p:spPr>
          <a:xfrm>
            <a:off x="5085893" y="2617013"/>
            <a:ext cx="252374" cy="252374"/>
          </a:xfrm>
          <a:prstGeom prst="rect">
            <a:avLst/>
          </a:prstGeom>
        </p:spPr>
      </p:pic>
      <p:sp>
        <p:nvSpPr>
          <p:cNvPr id="15" name="Text 11"/>
          <p:cNvSpPr txBox="1"/>
          <p:nvPr/>
        </p:nvSpPr>
        <p:spPr>
          <a:xfrm>
            <a:off x="5669280" y="2441448"/>
            <a:ext cx="2926080" cy="274320"/>
          </a:xfrm>
          <a:prstGeom prst="rect">
            <a:avLst/>
          </a:prstGeom>
          <a:noFill/>
          <a:ln/>
        </p:spPr>
        <p:txBody>
          <a:bodyPr wrap="square" lIns="0" tIns="0" rIns="0" bIns="0" rtlCol="0" anchor="t"/>
          <a:lstStyle/>
          <a:p>
            <a:pPr marL="0" indent="0">
              <a:buNone/>
            </a:pPr>
            <a:r>
              <a:rPr lang="en-US" sz="1600" b="1" dirty="0">
                <a:solidFill>
                  <a:schemeClr val="tx1"/>
                </a:solidFill>
              </a:rPr>
              <a:t>Slow verification</a:t>
            </a:r>
            <a:endParaRPr lang="en-US" sz="1600" dirty="0"/>
          </a:p>
        </p:txBody>
      </p:sp>
      <p:sp>
        <p:nvSpPr>
          <p:cNvPr id="16" name="Text 12"/>
          <p:cNvSpPr txBox="1"/>
          <p:nvPr/>
        </p:nvSpPr>
        <p:spPr>
          <a:xfrm>
            <a:off x="5669280" y="2743200"/>
            <a:ext cx="2926080" cy="365760"/>
          </a:xfrm>
          <a:prstGeom prst="rect">
            <a:avLst/>
          </a:prstGeom>
          <a:noFill/>
          <a:ln/>
        </p:spPr>
        <p:txBody>
          <a:bodyPr wrap="square" lIns="0" tIns="0" rIns="0" bIns="0" rtlCol="0" anchor="t"/>
          <a:lstStyle/>
          <a:p>
            <a:pPr marL="0" indent="0">
              <a:buNone/>
            </a:pPr>
            <a:r>
              <a:rPr lang="en-US" sz="1300" dirty="0">
                <a:solidFill>
                  <a:schemeClr val="accent3"/>
                </a:solidFill>
              </a:rPr>
              <a:t>Checking with the issuer takes time</a:t>
            </a:r>
            <a:endParaRPr lang="en-US" sz="1300" dirty="0"/>
          </a:p>
        </p:txBody>
      </p:sp>
      <p:sp>
        <p:nvSpPr>
          <p:cNvPr id="17" name="Challenge 3"/>
          <p:cNvSpPr/>
          <p:nvPr/>
        </p:nvSpPr>
        <p:spPr>
          <a:xfrm>
            <a:off x="4754880" y="3383280"/>
            <a:ext cx="3931920" cy="914400"/>
          </a:xfrm>
          <a:prstGeom prst="roundRect">
            <a:avLst>
              <a:gd name="adj" fmla="val 8000"/>
            </a:avLst>
          </a:prstGeom>
          <a:solidFill>
            <a:srgbClr val="F1F5F9"/>
          </a:solidFill>
          <a:ln w="12700">
            <a:solidFill>
              <a:srgbClr val="F1F5F9"/>
            </a:solidFill>
            <a:prstDash val="solid"/>
          </a:ln>
        </p:spPr>
        <p:txBody>
          <a:bodyPr/>
          <a:lstStyle/>
          <a:p>
            <a:endParaRPr lang="en-IN" dirty="0"/>
          </a:p>
        </p:txBody>
      </p:sp>
      <p:sp>
        <p:nvSpPr>
          <p:cNvPr id="18" name="Shape 14"/>
          <p:cNvSpPr/>
          <p:nvPr/>
        </p:nvSpPr>
        <p:spPr>
          <a:xfrm>
            <a:off x="4937760" y="3566160"/>
            <a:ext cx="548640" cy="548640"/>
          </a:xfrm>
          <a:prstGeom prst="ellipse">
            <a:avLst/>
          </a:prstGeom>
          <a:solidFill>
            <a:srgbClr val="0F766E"/>
          </a:solidFill>
          <a:ln w="12700">
            <a:solidFill>
              <a:srgbClr val="0F766E"/>
            </a:solidFill>
            <a:prstDash val="solid"/>
          </a:ln>
        </p:spPr>
        <p:txBody>
          <a:bodyPr/>
          <a:lstStyle/>
          <a:p>
            <a:endParaRPr lang="en-IN" dirty="0"/>
          </a:p>
        </p:txBody>
      </p:sp>
      <p:pic>
        <p:nvPicPr>
          <p:cNvPr id="19" name="Image 2" descr="preencoded.png"/>
          <p:cNvPicPr>
            <a:picLocks noChangeAspect="1"/>
          </p:cNvPicPr>
          <p:nvPr/>
        </p:nvPicPr>
        <p:blipFill>
          <a:blip r:embed="rId5"/>
          <a:stretch>
            <a:fillRect/>
          </a:stretch>
        </p:blipFill>
        <p:spPr>
          <a:xfrm>
            <a:off x="5085893" y="3714293"/>
            <a:ext cx="252374" cy="252374"/>
          </a:xfrm>
          <a:prstGeom prst="rect">
            <a:avLst/>
          </a:prstGeom>
        </p:spPr>
      </p:pic>
      <p:sp>
        <p:nvSpPr>
          <p:cNvPr id="20" name="Text 15"/>
          <p:cNvSpPr txBox="1"/>
          <p:nvPr/>
        </p:nvSpPr>
        <p:spPr>
          <a:xfrm>
            <a:off x="5669280" y="3538728"/>
            <a:ext cx="2926080" cy="274320"/>
          </a:xfrm>
          <a:prstGeom prst="rect">
            <a:avLst/>
          </a:prstGeom>
          <a:noFill/>
          <a:ln/>
        </p:spPr>
        <p:txBody>
          <a:bodyPr wrap="square" lIns="0" tIns="0" rIns="0" bIns="0" rtlCol="0" anchor="t"/>
          <a:lstStyle/>
          <a:p>
            <a:pPr marL="0" indent="0">
              <a:buNone/>
            </a:pPr>
            <a:r>
              <a:rPr lang="en-US" sz="1600" b="1" dirty="0">
                <a:solidFill>
                  <a:schemeClr val="tx1"/>
                </a:solidFill>
              </a:rPr>
              <a:t>Scattered records</a:t>
            </a:r>
            <a:endParaRPr lang="en-US" sz="1600" dirty="0"/>
          </a:p>
        </p:txBody>
      </p:sp>
      <p:sp>
        <p:nvSpPr>
          <p:cNvPr id="21" name="Text 16"/>
          <p:cNvSpPr txBox="1"/>
          <p:nvPr/>
        </p:nvSpPr>
        <p:spPr>
          <a:xfrm>
            <a:off x="5669280" y="3840480"/>
            <a:ext cx="2926080" cy="365760"/>
          </a:xfrm>
          <a:prstGeom prst="rect">
            <a:avLst/>
          </a:prstGeom>
          <a:noFill/>
          <a:ln/>
        </p:spPr>
        <p:txBody>
          <a:bodyPr wrap="square" lIns="0" tIns="0" rIns="0" bIns="0" rtlCol="0" anchor="t"/>
          <a:lstStyle/>
          <a:p>
            <a:pPr marL="0" indent="0">
              <a:buNone/>
            </a:pPr>
            <a:r>
              <a:rPr lang="en-US" sz="1300" dirty="0">
                <a:solidFill>
                  <a:schemeClr val="accent3"/>
                </a:solidFill>
              </a:rPr>
              <a:t>Student and course data sits in separate files</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Existing Solutions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484120"/>
        </p:xfrm>
        <a:graphic>
          <a:graphicData uri="http://schemas.openxmlformats.org/drawingml/2006/table">
            <a:tbl>
              <a:tblPr/>
              <a:tblGrid>
                <a:gridCol w="21945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84048">
                <a:tc>
                  <a:txBody>
                    <a:bodyPr/>
                    <a:lstStyle/>
                    <a:p>
                      <a:pPr marL="0" indent="0">
                        <a:buNone/>
                      </a:pPr>
                      <a:r>
                        <a:rPr lang="en-US" sz="1400" b="1" dirty="0">
                          <a:solidFill>
                            <a:srgbClr val="FFFFFF"/>
                          </a:solidFill>
                        </a:rPr>
                        <a:t>Approach</a:t>
                      </a:r>
                      <a:endParaRPr lang="en-US" sz="14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400" b="1" dirty="0">
                          <a:solidFill>
                            <a:srgbClr val="FFFFFF"/>
                          </a:solidFill>
                        </a:rPr>
                        <a:t>How it works</a:t>
                      </a:r>
                      <a:endParaRPr lang="en-US" sz="14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400" b="1" dirty="0">
                          <a:solidFill>
                            <a:srgbClr val="FFFFFF"/>
                          </a:solidFill>
                        </a:rPr>
                        <a:t>Limitation</a:t>
                      </a:r>
                      <a:endParaRPr lang="en-US" sz="14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0F172A"/>
                          </a:solidFill>
                        </a:rPr>
                        <a:t>Paper / PDF certificates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Printed or emailed to the student</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Easy to copy or edit; no direct way to check</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0F172A"/>
                          </a:solidFill>
                        </a:rPr>
                        <a:t>Manual verification</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Verifier emails or calls the issuer</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Slow; depends on staff availability</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0F172A"/>
                          </a:solidFill>
                        </a:rPr>
                        <a:t>Spreadsheets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Issuer keeps records in Excel or Sheets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No access control or status tracking</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0F172A"/>
                          </a:solidFill>
                        </a:rPr>
                        <a:t>Third-party platforms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Hosted certificate services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Often tied to one vendor; limited customization</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3" name="Gap callout"/>
          <p:cNvSpPr/>
          <p:nvPr/>
        </p:nvSpPr>
        <p:spPr>
          <a:xfrm>
            <a:off x="457200" y="3840480"/>
            <a:ext cx="8229600" cy="640080"/>
          </a:xfrm>
          <a:prstGeom prst="roundRect">
            <a:avLst>
              <a:gd name="adj" fmla="val 11429"/>
            </a:avLst>
          </a:prstGeom>
          <a:solidFill>
            <a:srgbClr val="F1F5F9"/>
          </a:solidFill>
          <a:ln w="12700">
            <a:solidFill>
              <a:srgbClr val="F1F5F9"/>
            </a:solidFill>
            <a:prstDash val="solid"/>
          </a:ln>
        </p:spPr>
        <p:txBody>
          <a:bodyPr/>
          <a:lstStyle/>
          <a:p>
            <a:endParaRPr lang="en-IN" dirty="0"/>
          </a:p>
        </p:txBody>
      </p:sp>
      <p:sp>
        <p:nvSpPr>
          <p:cNvPr id="5" name="Text 2"/>
          <p:cNvSpPr txBox="1"/>
          <p:nvPr/>
        </p:nvSpPr>
        <p:spPr>
          <a:xfrm>
            <a:off x="685800" y="3840480"/>
            <a:ext cx="7772400" cy="640080"/>
          </a:xfrm>
          <a:prstGeom prst="rect">
            <a:avLst/>
          </a:prstGeom>
          <a:noFill/>
          <a:ln/>
        </p:spPr>
        <p:txBody>
          <a:bodyPr wrap="square" lIns="0" tIns="0" rIns="0" bIns="0" rtlCol="0" anchor="ctr"/>
          <a:lstStyle/>
          <a:p>
            <a:pPr marL="0" indent="0">
              <a:buNone/>
            </a:pPr>
            <a:r>
              <a:rPr lang="en-US" sz="1500" b="1" dirty="0">
                <a:solidFill>
                  <a:schemeClr val="accent1"/>
                </a:solidFill>
              </a:rPr>
              <a:t>The gap:  </a:t>
            </a:r>
            <a:r>
              <a:rPr lang="en-US" sz="1500" dirty="0">
                <a:solidFill>
                  <a:schemeClr val="tx1"/>
                </a:solidFill>
              </a:rPr>
              <a:t>a simple, open system where issuing, managing and verifying happen in one place.</a:t>
            </a:r>
            <a:endParaRPr lang="en-US" sz="15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Proposed Solution</a:t>
            </a:r>
            <a:endParaRPr lang="en-US" sz="2800" dirty="0"/>
          </a:p>
        </p:txBody>
      </p:sp>
      <p:sp>
        <p:nvSpPr>
          <p:cNvPr id="3" name="Idea banner"/>
          <p:cNvSpPr/>
          <p:nvPr/>
        </p:nvSpPr>
        <p:spPr>
          <a:xfrm>
            <a:off x="457200" y="1143000"/>
            <a:ext cx="8229600" cy="594360"/>
          </a:xfrm>
          <a:prstGeom prst="roundRect">
            <a:avLst>
              <a:gd name="adj" fmla="val 12308"/>
            </a:avLst>
          </a:prstGeom>
          <a:solidFill>
            <a:srgbClr val="F1F5F9"/>
          </a:solidFill>
          <a:ln w="12700">
            <a:solidFill>
              <a:srgbClr val="F1F5F9"/>
            </a:solidFill>
            <a:prstDash val="solid"/>
          </a:ln>
        </p:spPr>
        <p:txBody>
          <a:bodyPr/>
          <a:lstStyle/>
          <a:p>
            <a:endParaRPr lang="en-IN" dirty="0"/>
          </a:p>
        </p:txBody>
      </p:sp>
      <p:sp>
        <p:nvSpPr>
          <p:cNvPr id="4" name="Text 2"/>
          <p:cNvSpPr txBox="1"/>
          <p:nvPr/>
        </p:nvSpPr>
        <p:spPr>
          <a:xfrm>
            <a:off x="640080" y="1143000"/>
            <a:ext cx="7863840" cy="594360"/>
          </a:xfrm>
          <a:prstGeom prst="rect">
            <a:avLst/>
          </a:prstGeom>
          <a:noFill/>
          <a:ln/>
        </p:spPr>
        <p:txBody>
          <a:bodyPr wrap="square" lIns="0" tIns="0" rIns="0" bIns="0" rtlCol="0" anchor="ctr"/>
          <a:lstStyle/>
          <a:p>
            <a:pPr marL="0" indent="0">
              <a:buNone/>
            </a:pPr>
            <a:r>
              <a:rPr lang="en-US" sz="1500" b="1" dirty="0">
                <a:solidFill>
                  <a:schemeClr val="accent1"/>
                </a:solidFill>
              </a:rPr>
              <a:t>Our idea:  </a:t>
            </a:r>
            <a:r>
              <a:rPr lang="en-US" sz="1500" dirty="0">
                <a:solidFill>
                  <a:schemeClr val="tx1"/>
                </a:solidFill>
              </a:rPr>
              <a:t>a web app where authorised admins issue certificates and anyone can verify them by ID.</a:t>
            </a:r>
            <a:endParaRPr lang="en-US" sz="1500" dirty="0"/>
          </a:p>
        </p:txBody>
      </p:sp>
      <p:sp>
        <p:nvSpPr>
          <p:cNvPr id="5" name="Feature 1"/>
          <p:cNvSpPr/>
          <p:nvPr/>
        </p:nvSpPr>
        <p:spPr>
          <a:xfrm>
            <a:off x="457200" y="1920240"/>
            <a:ext cx="1920240" cy="1417320"/>
          </a:xfrm>
          <a:prstGeom prst="roundRect">
            <a:avLst>
              <a:gd name="adj" fmla="val 5161"/>
            </a:avLst>
          </a:prstGeom>
          <a:solidFill>
            <a:srgbClr val="FFFFFF"/>
          </a:solidFill>
          <a:ln w="12700">
            <a:solidFill>
              <a:srgbClr val="CBD5E1"/>
            </a:solidFill>
            <a:prstDash val="solid"/>
          </a:ln>
        </p:spPr>
        <p:txBody>
          <a:bodyPr/>
          <a:lstStyle/>
          <a:p>
            <a:endParaRPr lang="en-IN" dirty="0"/>
          </a:p>
        </p:txBody>
      </p:sp>
      <p:sp>
        <p:nvSpPr>
          <p:cNvPr id="6" name="Shape 4"/>
          <p:cNvSpPr/>
          <p:nvPr/>
        </p:nvSpPr>
        <p:spPr>
          <a:xfrm>
            <a:off x="594360" y="2057400"/>
            <a:ext cx="457200" cy="457200"/>
          </a:xfrm>
          <a:prstGeom prst="ellipse">
            <a:avLst/>
          </a:prstGeom>
          <a:solidFill>
            <a:srgbClr val="0F766E"/>
          </a:solidFill>
          <a:ln w="12700">
            <a:solidFill>
              <a:srgbClr val="0F766E"/>
            </a:solidFill>
            <a:prstDash val="solid"/>
          </a:ln>
        </p:spPr>
        <p:txBody>
          <a:bodyPr/>
          <a:lstStyle/>
          <a:p>
            <a:endParaRPr lang="en-IN" dirty="0"/>
          </a:p>
        </p:txBody>
      </p:sp>
      <p:pic>
        <p:nvPicPr>
          <p:cNvPr id="7" name="Image 0" descr="preencoded.png"/>
          <p:cNvPicPr>
            <a:picLocks noChangeAspect="1"/>
          </p:cNvPicPr>
          <p:nvPr/>
        </p:nvPicPr>
        <p:blipFill>
          <a:blip r:embed="rId3"/>
          <a:stretch>
            <a:fillRect/>
          </a:stretch>
        </p:blipFill>
        <p:spPr>
          <a:xfrm>
            <a:off x="717804" y="2180844"/>
            <a:ext cx="210312" cy="210312"/>
          </a:xfrm>
          <a:prstGeom prst="rect">
            <a:avLst/>
          </a:prstGeom>
        </p:spPr>
      </p:pic>
      <p:sp>
        <p:nvSpPr>
          <p:cNvPr id="8" name="Text 5"/>
          <p:cNvSpPr txBox="1"/>
          <p:nvPr/>
        </p:nvSpPr>
        <p:spPr>
          <a:xfrm>
            <a:off x="594360" y="2606040"/>
            <a:ext cx="1691640" cy="256032"/>
          </a:xfrm>
          <a:prstGeom prst="rect">
            <a:avLst/>
          </a:prstGeom>
          <a:noFill/>
          <a:ln/>
        </p:spPr>
        <p:txBody>
          <a:bodyPr wrap="square" lIns="0" tIns="0" rIns="0" bIns="0" rtlCol="0" anchor="t"/>
          <a:lstStyle/>
          <a:p>
            <a:pPr marL="0" indent="0">
              <a:buNone/>
            </a:pPr>
            <a:r>
              <a:rPr lang="en-US" sz="1300" b="1" dirty="0">
                <a:solidFill>
                  <a:schemeClr val="tx1"/>
                </a:solidFill>
              </a:rPr>
              <a:t>Manage records</a:t>
            </a:r>
            <a:endParaRPr lang="en-US" sz="1300" dirty="0"/>
          </a:p>
        </p:txBody>
      </p:sp>
      <p:sp>
        <p:nvSpPr>
          <p:cNvPr id="9" name="Text 6"/>
          <p:cNvSpPr txBox="1"/>
          <p:nvPr/>
        </p:nvSpPr>
        <p:spPr>
          <a:xfrm>
            <a:off x="594360" y="2880360"/>
            <a:ext cx="1691640" cy="411480"/>
          </a:xfrm>
          <a:prstGeom prst="rect">
            <a:avLst/>
          </a:prstGeom>
          <a:noFill/>
          <a:ln/>
        </p:spPr>
        <p:txBody>
          <a:bodyPr wrap="square" lIns="0" tIns="0" rIns="0" bIns="0" rtlCol="0" anchor="t"/>
          <a:lstStyle/>
          <a:p>
            <a:pPr marL="0" indent="0">
              <a:buNone/>
            </a:pPr>
            <a:r>
              <a:rPr lang="en-US" sz="1100" dirty="0">
                <a:solidFill>
                  <a:schemeClr val="accent3"/>
                </a:solidFill>
              </a:rPr>
              <a:t>Add, view, update and delete certificates</a:t>
            </a:r>
            <a:endParaRPr lang="en-US" sz="1100" dirty="0"/>
          </a:p>
        </p:txBody>
      </p:sp>
      <p:sp>
        <p:nvSpPr>
          <p:cNvPr id="10" name="Feature 2"/>
          <p:cNvSpPr/>
          <p:nvPr/>
        </p:nvSpPr>
        <p:spPr>
          <a:xfrm>
            <a:off x="2560320" y="1920240"/>
            <a:ext cx="1920240" cy="1417320"/>
          </a:xfrm>
          <a:prstGeom prst="roundRect">
            <a:avLst>
              <a:gd name="adj" fmla="val 5161"/>
            </a:avLst>
          </a:prstGeom>
          <a:solidFill>
            <a:srgbClr val="FFFFFF"/>
          </a:solidFill>
          <a:ln w="12700">
            <a:solidFill>
              <a:srgbClr val="CBD5E1"/>
            </a:solidFill>
            <a:prstDash val="solid"/>
          </a:ln>
        </p:spPr>
        <p:txBody>
          <a:bodyPr/>
          <a:lstStyle/>
          <a:p>
            <a:endParaRPr lang="en-IN" dirty="0"/>
          </a:p>
        </p:txBody>
      </p:sp>
      <p:sp>
        <p:nvSpPr>
          <p:cNvPr id="11" name="Shape 8"/>
          <p:cNvSpPr/>
          <p:nvPr/>
        </p:nvSpPr>
        <p:spPr>
          <a:xfrm>
            <a:off x="2697480" y="2057400"/>
            <a:ext cx="457200" cy="457200"/>
          </a:xfrm>
          <a:prstGeom prst="ellipse">
            <a:avLst/>
          </a:prstGeom>
          <a:solidFill>
            <a:srgbClr val="0F766E"/>
          </a:solidFill>
          <a:ln w="12700">
            <a:solidFill>
              <a:srgbClr val="0F766E"/>
            </a:solidFill>
            <a:prstDash val="solid"/>
          </a:ln>
        </p:spPr>
        <p:txBody>
          <a:bodyPr/>
          <a:lstStyle/>
          <a:p>
            <a:endParaRPr lang="en-IN" dirty="0"/>
          </a:p>
        </p:txBody>
      </p:sp>
      <p:pic>
        <p:nvPicPr>
          <p:cNvPr id="12" name="Image 1" descr="preencoded.png"/>
          <p:cNvPicPr>
            <a:picLocks noChangeAspect="1"/>
          </p:cNvPicPr>
          <p:nvPr/>
        </p:nvPicPr>
        <p:blipFill>
          <a:blip r:embed="rId4"/>
          <a:stretch>
            <a:fillRect/>
          </a:stretch>
        </p:blipFill>
        <p:spPr>
          <a:xfrm>
            <a:off x="2820924" y="2180844"/>
            <a:ext cx="210312" cy="210312"/>
          </a:xfrm>
          <a:prstGeom prst="rect">
            <a:avLst/>
          </a:prstGeom>
        </p:spPr>
      </p:pic>
      <p:sp>
        <p:nvSpPr>
          <p:cNvPr id="13" name="Text 9"/>
          <p:cNvSpPr txBox="1"/>
          <p:nvPr/>
        </p:nvSpPr>
        <p:spPr>
          <a:xfrm>
            <a:off x="2697480" y="2606040"/>
            <a:ext cx="1691640" cy="256032"/>
          </a:xfrm>
          <a:prstGeom prst="rect">
            <a:avLst/>
          </a:prstGeom>
          <a:noFill/>
          <a:ln/>
        </p:spPr>
        <p:txBody>
          <a:bodyPr wrap="square" lIns="0" tIns="0" rIns="0" bIns="0" rtlCol="0" anchor="t"/>
          <a:lstStyle/>
          <a:p>
            <a:pPr marL="0" indent="0">
              <a:buNone/>
            </a:pPr>
            <a:r>
              <a:rPr lang="en-US" sz="1300" b="1" dirty="0">
                <a:solidFill>
                  <a:schemeClr val="tx1"/>
                </a:solidFill>
              </a:rPr>
              <a:t>Role-based access</a:t>
            </a:r>
            <a:endParaRPr lang="en-US" sz="1300" dirty="0"/>
          </a:p>
        </p:txBody>
      </p:sp>
      <p:sp>
        <p:nvSpPr>
          <p:cNvPr id="14" name="Text 10"/>
          <p:cNvSpPr txBox="1"/>
          <p:nvPr/>
        </p:nvSpPr>
        <p:spPr>
          <a:xfrm>
            <a:off x="2697480" y="2880360"/>
            <a:ext cx="1691640" cy="411480"/>
          </a:xfrm>
          <a:prstGeom prst="rect">
            <a:avLst/>
          </a:prstGeom>
          <a:noFill/>
          <a:ln/>
        </p:spPr>
        <p:txBody>
          <a:bodyPr wrap="square" lIns="0" tIns="0" rIns="0" bIns="0" rtlCol="0" anchor="t"/>
          <a:lstStyle/>
          <a:p>
            <a:pPr marL="0" indent="0">
              <a:buNone/>
            </a:pPr>
            <a:r>
              <a:rPr lang="en-US" sz="1100" dirty="0">
                <a:solidFill>
                  <a:schemeClr val="accent3"/>
                </a:solidFill>
              </a:rPr>
              <a:t>Login for admins; public verify page</a:t>
            </a:r>
            <a:endParaRPr lang="en-US" sz="1100" dirty="0"/>
          </a:p>
        </p:txBody>
      </p:sp>
      <p:sp>
        <p:nvSpPr>
          <p:cNvPr id="15" name="Feature 3"/>
          <p:cNvSpPr/>
          <p:nvPr/>
        </p:nvSpPr>
        <p:spPr>
          <a:xfrm>
            <a:off x="4663440" y="1920240"/>
            <a:ext cx="1920240" cy="1417320"/>
          </a:xfrm>
          <a:prstGeom prst="roundRect">
            <a:avLst>
              <a:gd name="adj" fmla="val 5161"/>
            </a:avLst>
          </a:prstGeom>
          <a:solidFill>
            <a:srgbClr val="FFFFFF"/>
          </a:solidFill>
          <a:ln w="12700">
            <a:solidFill>
              <a:srgbClr val="CBD5E1"/>
            </a:solidFill>
            <a:prstDash val="solid"/>
          </a:ln>
        </p:spPr>
        <p:txBody>
          <a:bodyPr/>
          <a:lstStyle/>
          <a:p>
            <a:endParaRPr lang="en-IN" dirty="0"/>
          </a:p>
        </p:txBody>
      </p:sp>
      <p:sp>
        <p:nvSpPr>
          <p:cNvPr id="16" name="Shape 12"/>
          <p:cNvSpPr/>
          <p:nvPr/>
        </p:nvSpPr>
        <p:spPr>
          <a:xfrm>
            <a:off x="4800600" y="2057400"/>
            <a:ext cx="457200" cy="457200"/>
          </a:xfrm>
          <a:prstGeom prst="ellipse">
            <a:avLst/>
          </a:prstGeom>
          <a:solidFill>
            <a:srgbClr val="0F766E"/>
          </a:solidFill>
          <a:ln w="12700">
            <a:solidFill>
              <a:srgbClr val="0F766E"/>
            </a:solidFill>
            <a:prstDash val="solid"/>
          </a:ln>
        </p:spPr>
        <p:txBody>
          <a:bodyPr/>
          <a:lstStyle/>
          <a:p>
            <a:endParaRPr lang="en-IN" dirty="0"/>
          </a:p>
        </p:txBody>
      </p:sp>
      <p:pic>
        <p:nvPicPr>
          <p:cNvPr id="17" name="Image 2" descr="preencoded.png"/>
          <p:cNvPicPr>
            <a:picLocks noChangeAspect="1"/>
          </p:cNvPicPr>
          <p:nvPr/>
        </p:nvPicPr>
        <p:blipFill>
          <a:blip r:embed="rId5"/>
          <a:stretch>
            <a:fillRect/>
          </a:stretch>
        </p:blipFill>
        <p:spPr>
          <a:xfrm>
            <a:off x="4924044" y="2180844"/>
            <a:ext cx="210312" cy="210312"/>
          </a:xfrm>
          <a:prstGeom prst="rect">
            <a:avLst/>
          </a:prstGeom>
        </p:spPr>
      </p:pic>
      <p:sp>
        <p:nvSpPr>
          <p:cNvPr id="18" name="Text 13"/>
          <p:cNvSpPr txBox="1"/>
          <p:nvPr/>
        </p:nvSpPr>
        <p:spPr>
          <a:xfrm>
            <a:off x="4800600" y="2606040"/>
            <a:ext cx="1691640" cy="256032"/>
          </a:xfrm>
          <a:prstGeom prst="rect">
            <a:avLst/>
          </a:prstGeom>
          <a:noFill/>
          <a:ln/>
        </p:spPr>
        <p:txBody>
          <a:bodyPr wrap="square" lIns="0" tIns="0" rIns="0" bIns="0" rtlCol="0" anchor="t"/>
          <a:lstStyle/>
          <a:p>
            <a:pPr marL="0" indent="0">
              <a:buNone/>
            </a:pPr>
            <a:r>
              <a:rPr lang="en-US" sz="1300" b="1" dirty="0">
                <a:solidFill>
                  <a:schemeClr val="tx1"/>
                </a:solidFill>
              </a:rPr>
              <a:t>Instant verification</a:t>
            </a:r>
            <a:endParaRPr lang="en-US" sz="1300" dirty="0"/>
          </a:p>
        </p:txBody>
      </p:sp>
      <p:sp>
        <p:nvSpPr>
          <p:cNvPr id="19" name="Text 14"/>
          <p:cNvSpPr txBox="1"/>
          <p:nvPr/>
        </p:nvSpPr>
        <p:spPr>
          <a:xfrm>
            <a:off x="4800600" y="2880360"/>
            <a:ext cx="1691640" cy="411480"/>
          </a:xfrm>
          <a:prstGeom prst="rect">
            <a:avLst/>
          </a:prstGeom>
          <a:noFill/>
          <a:ln/>
        </p:spPr>
        <p:txBody>
          <a:bodyPr wrap="square" lIns="0" tIns="0" rIns="0" bIns="0" rtlCol="0" anchor="t"/>
          <a:lstStyle/>
          <a:p>
            <a:pPr marL="0" indent="0">
              <a:buNone/>
            </a:pPr>
            <a:r>
              <a:rPr lang="en-US" sz="1100" dirty="0">
                <a:solidFill>
                  <a:schemeClr val="accent3"/>
                </a:solidFill>
              </a:rPr>
              <a:t>Look up any certificate by its ID</a:t>
            </a:r>
            <a:endParaRPr lang="en-US" sz="1100" dirty="0"/>
          </a:p>
        </p:txBody>
      </p:sp>
      <p:sp>
        <p:nvSpPr>
          <p:cNvPr id="20" name="Feature 4"/>
          <p:cNvSpPr/>
          <p:nvPr/>
        </p:nvSpPr>
        <p:spPr>
          <a:xfrm>
            <a:off x="6766560" y="1920240"/>
            <a:ext cx="1920240" cy="1417320"/>
          </a:xfrm>
          <a:prstGeom prst="roundRect">
            <a:avLst>
              <a:gd name="adj" fmla="val 5161"/>
            </a:avLst>
          </a:prstGeom>
          <a:solidFill>
            <a:srgbClr val="FFFFFF"/>
          </a:solidFill>
          <a:ln w="12700">
            <a:solidFill>
              <a:srgbClr val="CBD5E1"/>
            </a:solidFill>
            <a:prstDash val="solid"/>
          </a:ln>
        </p:spPr>
        <p:txBody>
          <a:bodyPr/>
          <a:lstStyle/>
          <a:p>
            <a:endParaRPr lang="en-IN" dirty="0"/>
          </a:p>
        </p:txBody>
      </p:sp>
      <p:sp>
        <p:nvSpPr>
          <p:cNvPr id="21" name="Shape 16"/>
          <p:cNvSpPr/>
          <p:nvPr/>
        </p:nvSpPr>
        <p:spPr>
          <a:xfrm>
            <a:off x="6903720" y="2057400"/>
            <a:ext cx="457200" cy="457200"/>
          </a:xfrm>
          <a:prstGeom prst="ellipse">
            <a:avLst/>
          </a:prstGeom>
          <a:solidFill>
            <a:srgbClr val="0F766E"/>
          </a:solidFill>
          <a:ln w="12700">
            <a:solidFill>
              <a:srgbClr val="0F766E"/>
            </a:solidFill>
            <a:prstDash val="solid"/>
          </a:ln>
        </p:spPr>
        <p:txBody>
          <a:bodyPr/>
          <a:lstStyle/>
          <a:p>
            <a:endParaRPr lang="en-IN" dirty="0"/>
          </a:p>
        </p:txBody>
      </p:sp>
      <p:pic>
        <p:nvPicPr>
          <p:cNvPr id="22" name="Image 3" descr="preencoded.png"/>
          <p:cNvPicPr>
            <a:picLocks noChangeAspect="1"/>
          </p:cNvPicPr>
          <p:nvPr/>
        </p:nvPicPr>
        <p:blipFill>
          <a:blip r:embed="rId6"/>
          <a:stretch>
            <a:fillRect/>
          </a:stretch>
        </p:blipFill>
        <p:spPr>
          <a:xfrm>
            <a:off x="7027164" y="2180844"/>
            <a:ext cx="210312" cy="210312"/>
          </a:xfrm>
          <a:prstGeom prst="rect">
            <a:avLst/>
          </a:prstGeom>
        </p:spPr>
      </p:pic>
      <p:sp>
        <p:nvSpPr>
          <p:cNvPr id="23" name="Text 17"/>
          <p:cNvSpPr txBox="1"/>
          <p:nvPr/>
        </p:nvSpPr>
        <p:spPr>
          <a:xfrm>
            <a:off x="6903720" y="2606040"/>
            <a:ext cx="1691640" cy="256032"/>
          </a:xfrm>
          <a:prstGeom prst="rect">
            <a:avLst/>
          </a:prstGeom>
          <a:noFill/>
          <a:ln/>
        </p:spPr>
        <p:txBody>
          <a:bodyPr wrap="square" lIns="0" tIns="0" rIns="0" bIns="0" rtlCol="0" anchor="t"/>
          <a:lstStyle/>
          <a:p>
            <a:pPr marL="0" indent="0">
              <a:buNone/>
            </a:pPr>
            <a:r>
              <a:rPr lang="en-US" sz="1300" b="1" dirty="0">
                <a:solidFill>
                  <a:schemeClr val="tx1"/>
                </a:solidFill>
              </a:rPr>
              <a:t>Status tracking</a:t>
            </a:r>
            <a:endParaRPr lang="en-US" sz="1300" dirty="0"/>
          </a:p>
        </p:txBody>
      </p:sp>
      <p:sp>
        <p:nvSpPr>
          <p:cNvPr id="24" name="Text 18"/>
          <p:cNvSpPr txBox="1"/>
          <p:nvPr/>
        </p:nvSpPr>
        <p:spPr>
          <a:xfrm>
            <a:off x="6903720" y="2880360"/>
            <a:ext cx="1691640" cy="411480"/>
          </a:xfrm>
          <a:prstGeom prst="rect">
            <a:avLst/>
          </a:prstGeom>
          <a:noFill/>
          <a:ln/>
        </p:spPr>
        <p:txBody>
          <a:bodyPr wrap="square" lIns="0" tIns="0" rIns="0" bIns="0" rtlCol="0" anchor="t"/>
          <a:lstStyle/>
          <a:p>
            <a:pPr marL="0" indent="0">
              <a:buNone/>
            </a:pPr>
            <a:r>
              <a:rPr lang="en-US" sz="1100" dirty="0">
                <a:solidFill>
                  <a:schemeClr val="accent3"/>
                </a:solidFill>
              </a:rPr>
              <a:t>Mark certificates Valid or Revoked</a:t>
            </a:r>
            <a:endParaRPr lang="en-US" sz="1100" dirty="0"/>
          </a:p>
        </p:txBody>
      </p:sp>
      <p:sp>
        <p:nvSpPr>
          <p:cNvPr id="25" name="Text 19"/>
          <p:cNvSpPr txBox="1"/>
          <p:nvPr/>
        </p:nvSpPr>
        <p:spPr>
          <a:xfrm>
            <a:off x="457200" y="3520440"/>
            <a:ext cx="8229600" cy="292608"/>
          </a:xfrm>
          <a:prstGeom prst="rect">
            <a:avLst/>
          </a:prstGeom>
          <a:noFill/>
          <a:ln/>
        </p:spPr>
        <p:txBody>
          <a:bodyPr wrap="square" lIns="0" tIns="0" rIns="0" bIns="0" rtlCol="0" anchor="t"/>
          <a:lstStyle/>
          <a:p>
            <a:pPr marL="0" indent="0">
              <a:buNone/>
            </a:pPr>
            <a:r>
              <a:rPr lang="en-US" sz="1500" b="1" dirty="0">
                <a:solidFill>
                  <a:schemeClr val="accent1"/>
                </a:solidFill>
              </a:rPr>
              <a:t>How it works</a:t>
            </a:r>
            <a:endParaRPr lang="en-US" sz="1500" dirty="0"/>
          </a:p>
        </p:txBody>
      </p:sp>
      <p:sp>
        <p:nvSpPr>
          <p:cNvPr id="26" name="Flow 1"/>
          <p:cNvSpPr/>
          <p:nvPr/>
        </p:nvSpPr>
        <p:spPr>
          <a:xfrm>
            <a:off x="457200" y="3886200"/>
            <a:ext cx="2011680" cy="640080"/>
          </a:xfrm>
          <a:prstGeom prst="homePlate">
            <a:avLst/>
          </a:prstGeom>
          <a:solidFill>
            <a:srgbClr val="0F766E"/>
          </a:solidFill>
          <a:ln w="12700">
            <a:solidFill>
              <a:srgbClr val="0F766E"/>
            </a:solidFill>
            <a:prstDash val="solid"/>
          </a:ln>
        </p:spPr>
        <p:txBody>
          <a:bodyPr/>
          <a:lstStyle/>
          <a:p>
            <a:endParaRPr lang="en-IN" dirty="0"/>
          </a:p>
        </p:txBody>
      </p:sp>
      <p:sp>
        <p:nvSpPr>
          <p:cNvPr id="27" name="Text 21"/>
          <p:cNvSpPr txBox="1"/>
          <p:nvPr/>
        </p:nvSpPr>
        <p:spPr>
          <a:xfrm>
            <a:off x="548640" y="3886200"/>
            <a:ext cx="1554480" cy="640080"/>
          </a:xfrm>
          <a:prstGeom prst="rect">
            <a:avLst/>
          </a:prstGeom>
          <a:noFill/>
          <a:ln/>
        </p:spPr>
        <p:txBody>
          <a:bodyPr wrap="square" lIns="0" tIns="0" rIns="0" bIns="0" rtlCol="0" anchor="ctr"/>
          <a:lstStyle/>
          <a:p>
            <a:pPr marL="0" indent="0" algn="ctr">
              <a:buNone/>
            </a:pPr>
            <a:r>
              <a:rPr lang="en-US" sz="1050" b="1" dirty="0">
                <a:solidFill>
                  <a:schemeClr val="bg1"/>
                </a:solidFill>
              </a:rPr>
              <a:t>Admin logs in</a:t>
            </a:r>
            <a:endParaRPr lang="en-US" sz="1050" dirty="0"/>
          </a:p>
        </p:txBody>
      </p:sp>
      <p:sp>
        <p:nvSpPr>
          <p:cNvPr id="28" name="Flow 2"/>
          <p:cNvSpPr/>
          <p:nvPr/>
        </p:nvSpPr>
        <p:spPr>
          <a:xfrm>
            <a:off x="2532888" y="3886200"/>
            <a:ext cx="2011680" cy="640080"/>
          </a:xfrm>
          <a:prstGeom prst="chevron">
            <a:avLst/>
          </a:prstGeom>
          <a:solidFill>
            <a:srgbClr val="0F766E"/>
          </a:solidFill>
          <a:ln w="12700">
            <a:solidFill>
              <a:srgbClr val="0F766E"/>
            </a:solidFill>
            <a:prstDash val="solid"/>
          </a:ln>
        </p:spPr>
        <p:txBody>
          <a:bodyPr/>
          <a:lstStyle/>
          <a:p>
            <a:endParaRPr lang="en-IN" dirty="0"/>
          </a:p>
        </p:txBody>
      </p:sp>
      <p:sp>
        <p:nvSpPr>
          <p:cNvPr id="29" name="Text 23"/>
          <p:cNvSpPr txBox="1"/>
          <p:nvPr/>
        </p:nvSpPr>
        <p:spPr>
          <a:xfrm>
            <a:off x="2807208" y="3886200"/>
            <a:ext cx="1463040" cy="640080"/>
          </a:xfrm>
          <a:prstGeom prst="rect">
            <a:avLst/>
          </a:prstGeom>
          <a:noFill/>
          <a:ln/>
        </p:spPr>
        <p:txBody>
          <a:bodyPr wrap="square" lIns="0" tIns="0" rIns="0" bIns="0" rtlCol="0" anchor="ctr"/>
          <a:lstStyle/>
          <a:p>
            <a:pPr marL="0" indent="0" algn="ctr">
              <a:buNone/>
            </a:pPr>
            <a:r>
              <a:rPr lang="en-US" sz="1050" b="1" dirty="0">
                <a:solidFill>
                  <a:schemeClr val="bg1"/>
                </a:solidFill>
              </a:rPr>
              <a:t>Issues certificate with unique ID</a:t>
            </a:r>
            <a:endParaRPr lang="en-US" sz="1050" dirty="0"/>
          </a:p>
        </p:txBody>
      </p:sp>
      <p:sp>
        <p:nvSpPr>
          <p:cNvPr id="30" name="Flow 3"/>
          <p:cNvSpPr/>
          <p:nvPr/>
        </p:nvSpPr>
        <p:spPr>
          <a:xfrm>
            <a:off x="4608576" y="3886200"/>
            <a:ext cx="2011680" cy="640080"/>
          </a:xfrm>
          <a:prstGeom prst="chevron">
            <a:avLst/>
          </a:prstGeom>
          <a:solidFill>
            <a:srgbClr val="0F766E"/>
          </a:solidFill>
          <a:ln w="12700">
            <a:solidFill>
              <a:srgbClr val="0F766E"/>
            </a:solidFill>
            <a:prstDash val="solid"/>
          </a:ln>
        </p:spPr>
        <p:txBody>
          <a:bodyPr/>
          <a:lstStyle/>
          <a:p>
            <a:endParaRPr lang="en-IN" dirty="0"/>
          </a:p>
        </p:txBody>
      </p:sp>
      <p:sp>
        <p:nvSpPr>
          <p:cNvPr id="31" name="Text 25"/>
          <p:cNvSpPr txBox="1"/>
          <p:nvPr/>
        </p:nvSpPr>
        <p:spPr>
          <a:xfrm>
            <a:off x="4882896" y="3886200"/>
            <a:ext cx="1463040" cy="640080"/>
          </a:xfrm>
          <a:prstGeom prst="rect">
            <a:avLst/>
          </a:prstGeom>
          <a:noFill/>
          <a:ln/>
        </p:spPr>
        <p:txBody>
          <a:bodyPr wrap="square" lIns="0" tIns="0" rIns="0" bIns="0" rtlCol="0" anchor="ctr"/>
          <a:lstStyle/>
          <a:p>
            <a:pPr marL="0" indent="0" algn="ctr">
              <a:buNone/>
            </a:pPr>
            <a:r>
              <a:rPr lang="en-US" sz="1050" b="1" dirty="0">
                <a:solidFill>
                  <a:schemeClr val="bg1"/>
                </a:solidFill>
              </a:rPr>
              <a:t>Verifier enters the ID</a:t>
            </a:r>
            <a:endParaRPr lang="en-US" sz="1050" dirty="0"/>
          </a:p>
        </p:txBody>
      </p:sp>
      <p:sp>
        <p:nvSpPr>
          <p:cNvPr id="32" name="Flow 4"/>
          <p:cNvSpPr/>
          <p:nvPr/>
        </p:nvSpPr>
        <p:spPr>
          <a:xfrm>
            <a:off x="6684264" y="3886200"/>
            <a:ext cx="2011680" cy="640080"/>
          </a:xfrm>
          <a:prstGeom prst="chevron">
            <a:avLst/>
          </a:prstGeom>
          <a:solidFill>
            <a:srgbClr val="F59E0B"/>
          </a:solidFill>
          <a:ln w="12700">
            <a:solidFill>
              <a:srgbClr val="F59E0B"/>
            </a:solidFill>
            <a:prstDash val="solid"/>
          </a:ln>
        </p:spPr>
        <p:txBody>
          <a:bodyPr/>
          <a:lstStyle/>
          <a:p>
            <a:endParaRPr lang="en-IN" dirty="0"/>
          </a:p>
        </p:txBody>
      </p:sp>
      <p:sp>
        <p:nvSpPr>
          <p:cNvPr id="33" name="Text 27"/>
          <p:cNvSpPr txBox="1"/>
          <p:nvPr/>
        </p:nvSpPr>
        <p:spPr>
          <a:xfrm>
            <a:off x="6958584" y="3886200"/>
            <a:ext cx="1463040" cy="640080"/>
          </a:xfrm>
          <a:prstGeom prst="rect">
            <a:avLst/>
          </a:prstGeom>
          <a:noFill/>
          <a:ln/>
        </p:spPr>
        <p:txBody>
          <a:bodyPr wrap="square" lIns="0" tIns="0" rIns="0" bIns="0" rtlCol="0" anchor="ctr"/>
          <a:lstStyle/>
          <a:p>
            <a:pPr marL="0" indent="0" algn="ctr">
              <a:buNone/>
            </a:pPr>
            <a:r>
              <a:rPr lang="en-US" sz="1050" b="1" dirty="0">
                <a:solidFill>
                  <a:schemeClr val="tx1"/>
                </a:solidFill>
              </a:rPr>
              <a:t>Gets Valid / Revoked / Not found</a:t>
            </a:r>
            <a:endParaRPr lang="en-US" sz="1050" dirty="0"/>
          </a:p>
        </p:txBody>
      </p:sp>
      <p:sp>
        <p:nvSpPr>
          <p:cNvPr id="34"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Technical Implementation</a:t>
            </a:r>
            <a:endParaRPr lang="en-US" sz="2800" dirty="0"/>
          </a:p>
        </p:txBody>
      </p:sp>
      <p:sp>
        <p:nvSpPr>
          <p:cNvPr id="3" name="Architecture 1"/>
          <p:cNvSpPr/>
          <p:nvPr/>
        </p:nvSpPr>
        <p:spPr>
          <a:xfrm>
            <a:off x="457200" y="1143000"/>
            <a:ext cx="2377440" cy="1051560"/>
          </a:xfrm>
          <a:prstGeom prst="roundRect">
            <a:avLst>
              <a:gd name="adj" fmla="val 6957"/>
            </a:avLst>
          </a:prstGeom>
          <a:solidFill>
            <a:srgbClr val="0F766E"/>
          </a:solidFill>
          <a:ln w="12700">
            <a:solidFill>
              <a:srgbClr val="0F766E"/>
            </a:solidFill>
            <a:prstDash val="solid"/>
          </a:ln>
        </p:spPr>
        <p:txBody>
          <a:bodyPr/>
          <a:lstStyle/>
          <a:p>
            <a:endParaRPr lang="en-IN" dirty="0"/>
          </a:p>
        </p:txBody>
      </p:sp>
      <p:sp>
        <p:nvSpPr>
          <p:cNvPr id="4" name="Shape 2"/>
          <p:cNvSpPr/>
          <p:nvPr/>
        </p:nvSpPr>
        <p:spPr>
          <a:xfrm>
            <a:off x="594360" y="1280160"/>
            <a:ext cx="457200" cy="457200"/>
          </a:xfrm>
          <a:prstGeom prst="ellipse">
            <a:avLst/>
          </a:prstGeom>
          <a:solidFill>
            <a:srgbClr val="FFFFFF"/>
          </a:solidFill>
          <a:ln w="12700">
            <a:solidFill>
              <a:srgbClr val="FFFFFF"/>
            </a:solidFill>
            <a:prstDash val="solid"/>
          </a:ln>
        </p:spPr>
        <p:txBody>
          <a:bodyPr/>
          <a:lstStyle/>
          <a:p>
            <a:endParaRPr lang="en-IN" dirty="0"/>
          </a:p>
        </p:txBody>
      </p:sp>
      <p:pic>
        <p:nvPicPr>
          <p:cNvPr id="5" name="Image 0" descr="preencoded.png"/>
          <p:cNvPicPr>
            <a:picLocks noChangeAspect="1"/>
          </p:cNvPicPr>
          <p:nvPr/>
        </p:nvPicPr>
        <p:blipFill>
          <a:blip r:embed="rId3"/>
          <a:stretch>
            <a:fillRect/>
          </a:stretch>
        </p:blipFill>
        <p:spPr>
          <a:xfrm>
            <a:off x="717804" y="1403604"/>
            <a:ext cx="210312" cy="210312"/>
          </a:xfrm>
          <a:prstGeom prst="rect">
            <a:avLst/>
          </a:prstGeom>
        </p:spPr>
      </p:pic>
      <p:sp>
        <p:nvSpPr>
          <p:cNvPr id="6" name="Text 3"/>
          <p:cNvSpPr txBox="1"/>
          <p:nvPr/>
        </p:nvSpPr>
        <p:spPr>
          <a:xfrm>
            <a:off x="1188720" y="1280160"/>
            <a:ext cx="1600200" cy="457200"/>
          </a:xfrm>
          <a:prstGeom prst="rect">
            <a:avLst/>
          </a:prstGeom>
          <a:noFill/>
          <a:ln/>
        </p:spPr>
        <p:txBody>
          <a:bodyPr wrap="square" lIns="0" tIns="0" rIns="0" bIns="0" rtlCol="0" anchor="ctr"/>
          <a:lstStyle/>
          <a:p>
            <a:pPr marL="0" indent="0">
              <a:buNone/>
            </a:pPr>
            <a:r>
              <a:rPr lang="en-US" sz="1400" b="1" dirty="0">
                <a:solidFill>
                  <a:schemeClr val="bg1"/>
                </a:solidFill>
              </a:rPr>
              <a:t>React.js</a:t>
            </a:r>
            <a:endParaRPr lang="en-US" sz="1400" dirty="0"/>
          </a:p>
        </p:txBody>
      </p:sp>
      <p:sp>
        <p:nvSpPr>
          <p:cNvPr id="7" name="Text 4"/>
          <p:cNvSpPr txBox="1"/>
          <p:nvPr/>
        </p:nvSpPr>
        <p:spPr>
          <a:xfrm>
            <a:off x="594360" y="1783080"/>
            <a:ext cx="2148840" cy="365760"/>
          </a:xfrm>
          <a:prstGeom prst="rect">
            <a:avLst/>
          </a:prstGeom>
          <a:noFill/>
          <a:ln/>
        </p:spPr>
        <p:txBody>
          <a:bodyPr wrap="square" lIns="0" tIns="0" rIns="0" bIns="0" rtlCol="0" anchor="t"/>
          <a:lstStyle/>
          <a:p>
            <a:pPr marL="0" indent="0">
              <a:buNone/>
            </a:pPr>
            <a:r>
              <a:rPr lang="en-US" sz="1100" dirty="0">
                <a:solidFill>
                  <a:srgbClr val="CCFBF1"/>
                </a:solidFill>
              </a:rPr>
              <a:t>Admin dashboard and public verify page</a:t>
            </a:r>
            <a:endParaRPr lang="en-US" sz="1100" dirty="0"/>
          </a:p>
        </p:txBody>
      </p:sp>
      <p:sp>
        <p:nvSpPr>
          <p:cNvPr id="8" name="Shape 5"/>
          <p:cNvSpPr/>
          <p:nvPr/>
        </p:nvSpPr>
        <p:spPr>
          <a:xfrm>
            <a:off x="2880360" y="1664208"/>
            <a:ext cx="457200" cy="0"/>
          </a:xfrm>
          <a:prstGeom prst="line">
            <a:avLst/>
          </a:prstGeom>
          <a:noFill/>
          <a:ln w="31750">
            <a:solidFill>
              <a:srgbClr val="F59E0B"/>
            </a:solidFill>
            <a:prstDash val="solid"/>
            <a:tailEnd type="triangle"/>
          </a:ln>
        </p:spPr>
        <p:txBody>
          <a:bodyPr/>
          <a:lstStyle/>
          <a:p>
            <a:endParaRPr lang="en-IN" dirty="0"/>
          </a:p>
        </p:txBody>
      </p:sp>
      <p:sp>
        <p:nvSpPr>
          <p:cNvPr id="9" name="Architecture 2"/>
          <p:cNvSpPr/>
          <p:nvPr/>
        </p:nvSpPr>
        <p:spPr>
          <a:xfrm>
            <a:off x="3383280" y="1143000"/>
            <a:ext cx="2377440" cy="1051560"/>
          </a:xfrm>
          <a:prstGeom prst="roundRect">
            <a:avLst>
              <a:gd name="adj" fmla="val 6957"/>
            </a:avLst>
          </a:prstGeom>
          <a:solidFill>
            <a:srgbClr val="0F766E"/>
          </a:solidFill>
          <a:ln w="12700">
            <a:solidFill>
              <a:srgbClr val="0F766E"/>
            </a:solidFill>
            <a:prstDash val="solid"/>
          </a:ln>
        </p:spPr>
        <p:txBody>
          <a:bodyPr/>
          <a:lstStyle/>
          <a:p>
            <a:endParaRPr lang="en-IN" dirty="0"/>
          </a:p>
        </p:txBody>
      </p:sp>
      <p:sp>
        <p:nvSpPr>
          <p:cNvPr id="10" name="Shape 7"/>
          <p:cNvSpPr/>
          <p:nvPr/>
        </p:nvSpPr>
        <p:spPr>
          <a:xfrm>
            <a:off x="3520440" y="1280160"/>
            <a:ext cx="457200" cy="457200"/>
          </a:xfrm>
          <a:prstGeom prst="ellipse">
            <a:avLst/>
          </a:prstGeom>
          <a:solidFill>
            <a:srgbClr val="FFFFFF"/>
          </a:solidFill>
          <a:ln w="12700">
            <a:solidFill>
              <a:srgbClr val="FFFFFF"/>
            </a:solidFill>
            <a:prstDash val="solid"/>
          </a:ln>
        </p:spPr>
        <p:txBody>
          <a:bodyPr/>
          <a:lstStyle/>
          <a:p>
            <a:endParaRPr lang="en-IN" dirty="0"/>
          </a:p>
        </p:txBody>
      </p:sp>
      <p:pic>
        <p:nvPicPr>
          <p:cNvPr id="11" name="Image 1" descr="preencoded.png"/>
          <p:cNvPicPr>
            <a:picLocks noChangeAspect="1"/>
          </p:cNvPicPr>
          <p:nvPr/>
        </p:nvPicPr>
        <p:blipFill>
          <a:blip r:embed="rId4"/>
          <a:stretch>
            <a:fillRect/>
          </a:stretch>
        </p:blipFill>
        <p:spPr>
          <a:xfrm>
            <a:off x="3643884" y="1403604"/>
            <a:ext cx="210312" cy="210312"/>
          </a:xfrm>
          <a:prstGeom prst="rect">
            <a:avLst/>
          </a:prstGeom>
        </p:spPr>
      </p:pic>
      <p:sp>
        <p:nvSpPr>
          <p:cNvPr id="12" name="Text 8"/>
          <p:cNvSpPr txBox="1"/>
          <p:nvPr/>
        </p:nvSpPr>
        <p:spPr>
          <a:xfrm>
            <a:off x="4114800" y="1280160"/>
            <a:ext cx="1600200" cy="457200"/>
          </a:xfrm>
          <a:prstGeom prst="rect">
            <a:avLst/>
          </a:prstGeom>
          <a:noFill/>
          <a:ln/>
        </p:spPr>
        <p:txBody>
          <a:bodyPr wrap="square" lIns="0" tIns="0" rIns="0" bIns="0" rtlCol="0" anchor="ctr"/>
          <a:lstStyle/>
          <a:p>
            <a:pPr marL="0" indent="0">
              <a:buNone/>
            </a:pPr>
            <a:r>
              <a:rPr lang="en-US" sz="1400" b="1" dirty="0">
                <a:solidFill>
                  <a:schemeClr val="bg1"/>
                </a:solidFill>
              </a:rPr>
              <a:t>Node.js + Express.js</a:t>
            </a:r>
            <a:endParaRPr lang="en-US" sz="1400" dirty="0"/>
          </a:p>
        </p:txBody>
      </p:sp>
      <p:sp>
        <p:nvSpPr>
          <p:cNvPr id="13" name="Text 9"/>
          <p:cNvSpPr txBox="1"/>
          <p:nvPr/>
        </p:nvSpPr>
        <p:spPr>
          <a:xfrm>
            <a:off x="3520440" y="1783080"/>
            <a:ext cx="2148840" cy="365760"/>
          </a:xfrm>
          <a:prstGeom prst="rect">
            <a:avLst/>
          </a:prstGeom>
          <a:noFill/>
          <a:ln/>
        </p:spPr>
        <p:txBody>
          <a:bodyPr wrap="square" lIns="0" tIns="0" rIns="0" bIns="0" rtlCol="0" anchor="t"/>
          <a:lstStyle/>
          <a:p>
            <a:pPr marL="0" indent="0">
              <a:buNone/>
            </a:pPr>
            <a:r>
              <a:rPr lang="en-US" sz="1100" dirty="0">
                <a:solidFill>
                  <a:srgbClr val="CCFBF1"/>
                </a:solidFill>
              </a:rPr>
              <a:t>REST APIs, JWT login, role checks</a:t>
            </a:r>
            <a:endParaRPr lang="en-US" sz="1100" dirty="0"/>
          </a:p>
        </p:txBody>
      </p:sp>
      <p:sp>
        <p:nvSpPr>
          <p:cNvPr id="14" name="Shape 10"/>
          <p:cNvSpPr/>
          <p:nvPr/>
        </p:nvSpPr>
        <p:spPr>
          <a:xfrm>
            <a:off x="5806440" y="1664208"/>
            <a:ext cx="457200" cy="0"/>
          </a:xfrm>
          <a:prstGeom prst="line">
            <a:avLst/>
          </a:prstGeom>
          <a:noFill/>
          <a:ln w="31750">
            <a:solidFill>
              <a:srgbClr val="F59E0B"/>
            </a:solidFill>
            <a:prstDash val="solid"/>
            <a:tailEnd type="triangle"/>
          </a:ln>
        </p:spPr>
        <p:txBody>
          <a:bodyPr/>
          <a:lstStyle/>
          <a:p>
            <a:endParaRPr lang="en-IN" dirty="0"/>
          </a:p>
        </p:txBody>
      </p:sp>
      <p:sp>
        <p:nvSpPr>
          <p:cNvPr id="15" name="Architecture 3"/>
          <p:cNvSpPr/>
          <p:nvPr/>
        </p:nvSpPr>
        <p:spPr>
          <a:xfrm>
            <a:off x="6309360" y="1143000"/>
            <a:ext cx="2377440" cy="1051560"/>
          </a:xfrm>
          <a:prstGeom prst="roundRect">
            <a:avLst>
              <a:gd name="adj" fmla="val 6957"/>
            </a:avLst>
          </a:prstGeom>
          <a:solidFill>
            <a:srgbClr val="0F766E"/>
          </a:solidFill>
          <a:ln w="12700">
            <a:solidFill>
              <a:srgbClr val="0F766E"/>
            </a:solidFill>
            <a:prstDash val="solid"/>
          </a:ln>
        </p:spPr>
        <p:txBody>
          <a:bodyPr/>
          <a:lstStyle/>
          <a:p>
            <a:endParaRPr lang="en-IN" dirty="0"/>
          </a:p>
        </p:txBody>
      </p:sp>
      <p:sp>
        <p:nvSpPr>
          <p:cNvPr id="16" name="Shape 12"/>
          <p:cNvSpPr/>
          <p:nvPr/>
        </p:nvSpPr>
        <p:spPr>
          <a:xfrm>
            <a:off x="6446520" y="1280160"/>
            <a:ext cx="457200" cy="457200"/>
          </a:xfrm>
          <a:prstGeom prst="ellipse">
            <a:avLst/>
          </a:prstGeom>
          <a:solidFill>
            <a:srgbClr val="FFFFFF"/>
          </a:solidFill>
          <a:ln w="12700">
            <a:solidFill>
              <a:srgbClr val="FFFFFF"/>
            </a:solidFill>
            <a:prstDash val="solid"/>
          </a:ln>
        </p:spPr>
        <p:txBody>
          <a:bodyPr/>
          <a:lstStyle/>
          <a:p>
            <a:endParaRPr lang="en-IN" dirty="0"/>
          </a:p>
        </p:txBody>
      </p:sp>
      <p:pic>
        <p:nvPicPr>
          <p:cNvPr id="17" name="Image 2" descr="preencoded.png"/>
          <p:cNvPicPr>
            <a:picLocks noChangeAspect="1"/>
          </p:cNvPicPr>
          <p:nvPr/>
        </p:nvPicPr>
        <p:blipFill>
          <a:blip r:embed="rId5"/>
          <a:stretch>
            <a:fillRect/>
          </a:stretch>
        </p:blipFill>
        <p:spPr>
          <a:xfrm>
            <a:off x="6569964" y="1403604"/>
            <a:ext cx="210312" cy="210312"/>
          </a:xfrm>
          <a:prstGeom prst="rect">
            <a:avLst/>
          </a:prstGeom>
        </p:spPr>
      </p:pic>
      <p:sp>
        <p:nvSpPr>
          <p:cNvPr id="18" name="Text 13"/>
          <p:cNvSpPr txBox="1"/>
          <p:nvPr/>
        </p:nvSpPr>
        <p:spPr>
          <a:xfrm>
            <a:off x="7040880" y="1280160"/>
            <a:ext cx="1600200" cy="457200"/>
          </a:xfrm>
          <a:prstGeom prst="rect">
            <a:avLst/>
          </a:prstGeom>
          <a:noFill/>
          <a:ln/>
        </p:spPr>
        <p:txBody>
          <a:bodyPr wrap="square" lIns="0" tIns="0" rIns="0" bIns="0" rtlCol="0" anchor="ctr"/>
          <a:lstStyle/>
          <a:p>
            <a:pPr marL="0" indent="0">
              <a:buNone/>
            </a:pPr>
            <a:r>
              <a:rPr lang="en-US" sz="1400" b="1" dirty="0">
                <a:solidFill>
                  <a:schemeClr val="bg1"/>
                </a:solidFill>
              </a:rPr>
              <a:t>MongoDB</a:t>
            </a:r>
            <a:endParaRPr lang="en-US" sz="1400" dirty="0"/>
          </a:p>
        </p:txBody>
      </p:sp>
      <p:sp>
        <p:nvSpPr>
          <p:cNvPr id="19" name="Text 14"/>
          <p:cNvSpPr txBox="1"/>
          <p:nvPr/>
        </p:nvSpPr>
        <p:spPr>
          <a:xfrm>
            <a:off x="6446520" y="1783080"/>
            <a:ext cx="2148840" cy="365760"/>
          </a:xfrm>
          <a:prstGeom prst="rect">
            <a:avLst/>
          </a:prstGeom>
          <a:noFill/>
          <a:ln/>
        </p:spPr>
        <p:txBody>
          <a:bodyPr wrap="square" lIns="0" tIns="0" rIns="0" bIns="0" rtlCol="0" anchor="t"/>
          <a:lstStyle/>
          <a:p>
            <a:pPr marL="0" indent="0">
              <a:buNone/>
            </a:pPr>
            <a:r>
              <a:rPr lang="en-US" sz="1100" dirty="0">
                <a:solidFill>
                  <a:srgbClr val="CCFBF1"/>
                </a:solidFill>
              </a:rPr>
              <a:t>Users and Certificates collections</a:t>
            </a:r>
            <a:endParaRPr lang="en-US" sz="1100" dirty="0"/>
          </a:p>
        </p:txBody>
      </p:sp>
      <p:sp>
        <p:nvSpPr>
          <p:cNvPr id="20" name="Text 15"/>
          <p:cNvSpPr txBox="1"/>
          <p:nvPr/>
        </p:nvSpPr>
        <p:spPr>
          <a:xfrm>
            <a:off x="457200" y="2304288"/>
            <a:ext cx="8229600" cy="274320"/>
          </a:xfrm>
          <a:prstGeom prst="rect">
            <a:avLst/>
          </a:prstGeom>
          <a:noFill/>
          <a:ln/>
        </p:spPr>
        <p:txBody>
          <a:bodyPr wrap="square" lIns="0" tIns="0" rIns="0" bIns="0" rtlCol="0" anchor="t"/>
          <a:lstStyle/>
          <a:p>
            <a:pPr marL="0" indent="0" algn="ctr">
              <a:buNone/>
            </a:pPr>
            <a:r>
              <a:rPr lang="en-US" sz="1200" i="1" dirty="0">
                <a:solidFill>
                  <a:schemeClr val="accent3"/>
                </a:solidFill>
              </a:rPr>
              <a:t>Flow: React sends JSON requests  &gt;  Express checks token and role  &gt;  MongoDB stores or returns data</a:t>
            </a:r>
            <a:endParaRPr lang="en-US" sz="1200" dirty="0"/>
          </a:p>
        </p:txBody>
      </p:sp>
      <p:sp>
        <p:nvSpPr>
          <p:cNvPr id="21" name="Data model card"/>
          <p:cNvSpPr/>
          <p:nvPr/>
        </p:nvSpPr>
        <p:spPr>
          <a:xfrm>
            <a:off x="457200" y="2743200"/>
            <a:ext cx="3291840" cy="1691640"/>
          </a:xfrm>
          <a:prstGeom prst="roundRect">
            <a:avLst>
              <a:gd name="adj" fmla="val 4324"/>
            </a:avLst>
          </a:prstGeom>
          <a:solidFill>
            <a:srgbClr val="F1F5F9"/>
          </a:solidFill>
          <a:ln w="12700">
            <a:solidFill>
              <a:srgbClr val="F1F5F9"/>
            </a:solidFill>
            <a:prstDash val="solid"/>
          </a:ln>
        </p:spPr>
        <p:txBody>
          <a:bodyPr/>
          <a:lstStyle/>
          <a:p>
            <a:endParaRPr lang="en-IN" dirty="0"/>
          </a:p>
        </p:txBody>
      </p:sp>
      <p:sp>
        <p:nvSpPr>
          <p:cNvPr id="22" name="Text 17"/>
          <p:cNvSpPr txBox="1"/>
          <p:nvPr/>
        </p:nvSpPr>
        <p:spPr>
          <a:xfrm>
            <a:off x="640080" y="2834640"/>
            <a:ext cx="2926080" cy="274320"/>
          </a:xfrm>
          <a:prstGeom prst="rect">
            <a:avLst/>
          </a:prstGeom>
          <a:noFill/>
          <a:ln/>
        </p:spPr>
        <p:txBody>
          <a:bodyPr wrap="square" lIns="0" tIns="0" rIns="0" bIns="0" rtlCol="0" anchor="t"/>
          <a:lstStyle/>
          <a:p>
            <a:pPr marL="0" indent="0">
              <a:buNone/>
            </a:pPr>
            <a:r>
              <a:rPr lang="en-US" sz="1400" b="1" dirty="0">
                <a:solidFill>
                  <a:schemeClr val="accent1"/>
                </a:solidFill>
              </a:rPr>
              <a:t>Certificate record</a:t>
            </a:r>
            <a:endParaRPr lang="en-US" sz="1400" dirty="0"/>
          </a:p>
        </p:txBody>
      </p:sp>
      <p:sp>
        <p:nvSpPr>
          <p:cNvPr id="23" name="Text 18"/>
          <p:cNvSpPr txBox="1"/>
          <p:nvPr/>
        </p:nvSpPr>
        <p:spPr>
          <a:xfrm>
            <a:off x="640080" y="3154680"/>
            <a:ext cx="2926080" cy="1234440"/>
          </a:xfrm>
          <a:prstGeom prst="rect">
            <a:avLst/>
          </a:prstGeom>
          <a:noFill/>
          <a:ln/>
        </p:spPr>
        <p:txBody>
          <a:bodyPr wrap="square" lIns="0" tIns="0" rIns="0" bIns="0" rtlCol="0" anchor="t"/>
          <a:lstStyle/>
          <a:p>
            <a:pPr marL="203200" indent="-203200">
              <a:spcAft>
                <a:spcPts val="200"/>
              </a:spcAft>
              <a:buSzPct val="100000"/>
              <a:buChar char="•"/>
            </a:pPr>
            <a:r>
              <a:rPr lang="en-US" sz="1200" dirty="0">
                <a:solidFill>
                  <a:schemeClr val="tx1"/>
                </a:solidFill>
              </a:rPr>
              <a:t>studentName</a:t>
            </a:r>
            <a:endParaRPr lang="en-US" sz="1200" dirty="0"/>
          </a:p>
          <a:p>
            <a:pPr marL="203200" indent="-203200">
              <a:spcAft>
                <a:spcPts val="200"/>
              </a:spcAft>
              <a:buSzPct val="100000"/>
              <a:buChar char="•"/>
            </a:pPr>
            <a:r>
              <a:rPr lang="en-US" sz="1200" dirty="0">
                <a:solidFill>
                  <a:schemeClr val="tx1"/>
                </a:solidFill>
              </a:rPr>
              <a:t>certificateId (unique)</a:t>
            </a:r>
            <a:endParaRPr lang="en-US" sz="1200" dirty="0"/>
          </a:p>
          <a:p>
            <a:pPr marL="203200" indent="-203200">
              <a:spcAft>
                <a:spcPts val="200"/>
              </a:spcAft>
              <a:buSzPct val="100000"/>
              <a:buChar char="•"/>
            </a:pPr>
            <a:r>
              <a:rPr lang="en-US" sz="1200" dirty="0">
                <a:solidFill>
                  <a:schemeClr val="tx1"/>
                </a:solidFill>
              </a:rPr>
              <a:t>course</a:t>
            </a:r>
            <a:endParaRPr lang="en-US" sz="1200" dirty="0"/>
          </a:p>
          <a:p>
            <a:pPr marL="203200" indent="-203200">
              <a:spcAft>
                <a:spcPts val="200"/>
              </a:spcAft>
              <a:buSzPct val="100000"/>
              <a:buChar char="•"/>
            </a:pPr>
            <a:r>
              <a:rPr lang="en-US" sz="1200" dirty="0">
                <a:solidFill>
                  <a:schemeClr val="tx1"/>
                </a:solidFill>
              </a:rPr>
              <a:t>issueDate</a:t>
            </a:r>
            <a:endParaRPr lang="en-US" sz="1200" dirty="0"/>
          </a:p>
          <a:p>
            <a:pPr marL="203200" indent="-203200">
              <a:spcAft>
                <a:spcPts val="200"/>
              </a:spcAft>
              <a:buSzPct val="100000"/>
              <a:buChar char="•"/>
            </a:pPr>
            <a:r>
              <a:rPr lang="en-US" sz="1200" dirty="0">
                <a:solidFill>
                  <a:schemeClr val="tx1"/>
                </a:solidFill>
              </a:rPr>
              <a:t>status (Valid / Revoked)</a:t>
            </a:r>
            <a:endParaRPr lang="en-US" sz="1200" dirty="0"/>
          </a:p>
        </p:txBody>
      </p:sp>
      <p:sp>
        <p:nvSpPr>
          <p:cNvPr id="24" name="Text 19"/>
          <p:cNvSpPr txBox="1"/>
          <p:nvPr/>
        </p:nvSpPr>
        <p:spPr>
          <a:xfrm>
            <a:off x="4023360" y="2743200"/>
            <a:ext cx="4663440" cy="274320"/>
          </a:xfrm>
          <a:prstGeom prst="rect">
            <a:avLst/>
          </a:prstGeom>
          <a:noFill/>
          <a:ln/>
        </p:spPr>
        <p:txBody>
          <a:bodyPr wrap="square" lIns="0" tIns="0" rIns="0" bIns="0" rtlCol="0" anchor="t"/>
          <a:lstStyle/>
          <a:p>
            <a:pPr marL="0" indent="0">
              <a:buNone/>
            </a:pPr>
            <a:r>
              <a:rPr lang="en-US" sz="1400" b="1" dirty="0">
                <a:solidFill>
                  <a:schemeClr val="accent1"/>
                </a:solidFill>
              </a:rPr>
              <a:t>Key API routes</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023360" y="3063240"/>
          <a:ext cx="4663440" cy="1554480"/>
        </p:xfrm>
        <a:graphic>
          <a:graphicData uri="http://schemas.openxmlformats.org/drawingml/2006/table">
            <a:tbl>
              <a:tblPr/>
              <a:tblGrid>
                <a:gridCol w="10972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228600">
                <a:tc>
                  <a:txBody>
                    <a:bodyPr/>
                    <a:lstStyle/>
                    <a:p>
                      <a:pPr marL="0" indent="0">
                        <a:buNone/>
                      </a:pPr>
                      <a:r>
                        <a:rPr lang="en-US" sz="1100" b="1" dirty="0">
                          <a:solidFill>
                            <a:srgbClr val="FFFFFF"/>
                          </a:solidFill>
                        </a:rPr>
                        <a:t>Method</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100" b="1" dirty="0">
                          <a:solidFill>
                            <a:srgbClr val="FFFFFF"/>
                          </a:solidFill>
                        </a:rPr>
                        <a:t>Route</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100" b="1" dirty="0">
                          <a:solidFill>
                            <a:srgbClr val="FFFFFF"/>
                          </a:solidFill>
                        </a:rPr>
                        <a:t>Access</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extLst>
                  <a:ext uri="{0D108BD9-81ED-4DB2-BD59-A6C34878D82A}">
                    <a16:rowId xmlns:a16="http://schemas.microsoft.com/office/drawing/2014/main" val="10000"/>
                  </a:ext>
                </a:extLst>
              </a:tr>
              <a:tr h="228600">
                <a:tc>
                  <a:txBody>
                    <a:bodyPr/>
                    <a:lstStyle/>
                    <a:p>
                      <a:pPr marL="0" indent="0">
                        <a:buNone/>
                      </a:pPr>
                      <a:r>
                        <a:rPr lang="en-US" sz="1100" b="1" dirty="0">
                          <a:solidFill>
                            <a:srgbClr val="0F172A"/>
                          </a:solidFill>
                        </a:rPr>
                        <a:t>POST</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/api/auth/login</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Public</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1100" b="1" dirty="0">
                          <a:solidFill>
                            <a:srgbClr val="0F172A"/>
                          </a:solidFill>
                        </a:rPr>
                        <a:t>POST</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/api/certificates</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Admin</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8600">
                <a:tc>
                  <a:txBody>
                    <a:bodyPr/>
                    <a:lstStyle/>
                    <a:p>
                      <a:pPr marL="0" indent="0">
                        <a:buNone/>
                      </a:pPr>
                      <a:r>
                        <a:rPr lang="en-US" sz="1100" b="1" dirty="0">
                          <a:solidFill>
                            <a:srgbClr val="0F172A"/>
                          </a:solidFill>
                        </a:rPr>
                        <a:t>GET</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/api/certificates</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Admin</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buNone/>
                      </a:pPr>
                      <a:r>
                        <a:rPr lang="en-US" sz="1100" b="1" dirty="0">
                          <a:solidFill>
                            <a:srgbClr val="0F172A"/>
                          </a:solidFill>
                        </a:rPr>
                        <a:t>PUT / DELETE</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/api/certificates/:id</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Admin</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8600">
                <a:tc>
                  <a:txBody>
                    <a:bodyPr/>
                    <a:lstStyle/>
                    <a:p>
                      <a:pPr marL="0" indent="0">
                        <a:buNone/>
                      </a:pPr>
                      <a:r>
                        <a:rPr lang="en-US" sz="1100" b="1" dirty="0">
                          <a:solidFill>
                            <a:srgbClr val="0F172A"/>
                          </a:solidFill>
                        </a:rPr>
                        <a:t>GET</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/api/verify/:certificateId</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Public</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Innovation and Future Scope</a:t>
            </a:r>
            <a:endParaRPr lang="en-US" sz="2800" dirty="0"/>
          </a:p>
        </p:txBody>
      </p:sp>
      <p:sp>
        <p:nvSpPr>
          <p:cNvPr id="3" name="Text 1"/>
          <p:cNvSpPr txBox="1"/>
          <p:nvPr/>
        </p:nvSpPr>
        <p:spPr>
          <a:xfrm>
            <a:off x="457200" y="114300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What makes it different</a:t>
            </a:r>
            <a:endParaRPr lang="en-US" sz="1500" dirty="0"/>
          </a:p>
        </p:txBody>
      </p:sp>
      <p:sp>
        <p:nvSpPr>
          <p:cNvPr id="4" name="Shape 2"/>
          <p:cNvSpPr/>
          <p:nvPr/>
        </p:nvSpPr>
        <p:spPr>
          <a:xfrm>
            <a:off x="457200" y="1508760"/>
            <a:ext cx="347472" cy="347472"/>
          </a:xfrm>
          <a:prstGeom prst="ellipse">
            <a:avLst/>
          </a:prstGeom>
          <a:solidFill>
            <a:srgbClr val="0F766E"/>
          </a:solidFill>
          <a:ln w="12700">
            <a:solidFill>
              <a:srgbClr val="0F766E"/>
            </a:solidFill>
            <a:prstDash val="solid"/>
          </a:ln>
        </p:spPr>
        <p:txBody>
          <a:bodyPr/>
          <a:lstStyle/>
          <a:p>
            <a:endParaRPr lang="en-IN" dirty="0"/>
          </a:p>
        </p:txBody>
      </p:sp>
      <p:pic>
        <p:nvPicPr>
          <p:cNvPr id="5" name="Image 0" descr="preencoded.png"/>
          <p:cNvPicPr>
            <a:picLocks noChangeAspect="1"/>
          </p:cNvPicPr>
          <p:nvPr/>
        </p:nvPicPr>
        <p:blipFill>
          <a:blip r:embed="rId3"/>
          <a:stretch>
            <a:fillRect/>
          </a:stretch>
        </p:blipFill>
        <p:spPr>
          <a:xfrm>
            <a:off x="551017" y="1602577"/>
            <a:ext cx="159837" cy="159837"/>
          </a:xfrm>
          <a:prstGeom prst="rect">
            <a:avLst/>
          </a:prstGeom>
        </p:spPr>
      </p:pic>
      <p:sp>
        <p:nvSpPr>
          <p:cNvPr id="6" name="Text 3"/>
          <p:cNvSpPr txBox="1"/>
          <p:nvPr/>
        </p:nvSpPr>
        <p:spPr>
          <a:xfrm>
            <a:off x="960120" y="1508760"/>
            <a:ext cx="3429000" cy="347472"/>
          </a:xfrm>
          <a:prstGeom prst="rect">
            <a:avLst/>
          </a:prstGeom>
          <a:noFill/>
          <a:ln/>
        </p:spPr>
        <p:txBody>
          <a:bodyPr wrap="square" lIns="0" tIns="0" rIns="0" bIns="0" rtlCol="0" anchor="ctr"/>
          <a:lstStyle/>
          <a:p>
            <a:pPr marL="0" indent="0">
              <a:buNone/>
            </a:pPr>
            <a:r>
              <a:rPr lang="en-US" sz="1300" dirty="0">
                <a:solidFill>
                  <a:schemeClr val="tx1"/>
                </a:solidFill>
              </a:rPr>
              <a:t>Public verify page, no login needed</a:t>
            </a:r>
            <a:endParaRPr lang="en-US" sz="1300" dirty="0"/>
          </a:p>
        </p:txBody>
      </p:sp>
      <p:sp>
        <p:nvSpPr>
          <p:cNvPr id="7" name="Shape 4"/>
          <p:cNvSpPr/>
          <p:nvPr/>
        </p:nvSpPr>
        <p:spPr>
          <a:xfrm>
            <a:off x="457200" y="1984248"/>
            <a:ext cx="347472" cy="347472"/>
          </a:xfrm>
          <a:prstGeom prst="ellipse">
            <a:avLst/>
          </a:prstGeom>
          <a:solidFill>
            <a:srgbClr val="0F766E"/>
          </a:solidFill>
          <a:ln w="12700">
            <a:solidFill>
              <a:srgbClr val="0F766E"/>
            </a:solidFill>
            <a:prstDash val="solid"/>
          </a:ln>
        </p:spPr>
        <p:txBody>
          <a:bodyPr/>
          <a:lstStyle/>
          <a:p>
            <a:endParaRPr lang="en-IN" dirty="0"/>
          </a:p>
        </p:txBody>
      </p:sp>
      <p:pic>
        <p:nvPicPr>
          <p:cNvPr id="8" name="Image 1" descr="preencoded.png"/>
          <p:cNvPicPr>
            <a:picLocks noChangeAspect="1"/>
          </p:cNvPicPr>
          <p:nvPr/>
        </p:nvPicPr>
        <p:blipFill>
          <a:blip r:embed="rId4"/>
          <a:stretch>
            <a:fillRect/>
          </a:stretch>
        </p:blipFill>
        <p:spPr>
          <a:xfrm>
            <a:off x="551017" y="2078065"/>
            <a:ext cx="159837" cy="159837"/>
          </a:xfrm>
          <a:prstGeom prst="rect">
            <a:avLst/>
          </a:prstGeom>
        </p:spPr>
      </p:pic>
      <p:sp>
        <p:nvSpPr>
          <p:cNvPr id="9" name="Text 5"/>
          <p:cNvSpPr txBox="1"/>
          <p:nvPr/>
        </p:nvSpPr>
        <p:spPr>
          <a:xfrm>
            <a:off x="960120" y="1984248"/>
            <a:ext cx="3429000" cy="347472"/>
          </a:xfrm>
          <a:prstGeom prst="rect">
            <a:avLst/>
          </a:prstGeom>
          <a:noFill/>
          <a:ln/>
        </p:spPr>
        <p:txBody>
          <a:bodyPr wrap="square" lIns="0" tIns="0" rIns="0" bIns="0" rtlCol="0" anchor="ctr"/>
          <a:lstStyle/>
          <a:p>
            <a:pPr marL="0" indent="0">
              <a:buNone/>
            </a:pPr>
            <a:r>
              <a:rPr lang="en-US" sz="1300" dirty="0">
                <a:solidFill>
                  <a:schemeClr val="tx1"/>
                </a:solidFill>
              </a:rPr>
              <a:t>SHA-256 fingerprint helps spot edited records</a:t>
            </a:r>
            <a:endParaRPr lang="en-US" sz="1300" dirty="0"/>
          </a:p>
        </p:txBody>
      </p:sp>
      <p:sp>
        <p:nvSpPr>
          <p:cNvPr id="10" name="Shape 6"/>
          <p:cNvSpPr/>
          <p:nvPr/>
        </p:nvSpPr>
        <p:spPr>
          <a:xfrm>
            <a:off x="457200" y="2459736"/>
            <a:ext cx="347472" cy="347472"/>
          </a:xfrm>
          <a:prstGeom prst="ellipse">
            <a:avLst/>
          </a:prstGeom>
          <a:solidFill>
            <a:srgbClr val="0F766E"/>
          </a:solidFill>
          <a:ln w="12700">
            <a:solidFill>
              <a:srgbClr val="0F766E"/>
            </a:solidFill>
            <a:prstDash val="solid"/>
          </a:ln>
        </p:spPr>
        <p:txBody>
          <a:bodyPr/>
          <a:lstStyle/>
          <a:p>
            <a:endParaRPr lang="en-IN" dirty="0"/>
          </a:p>
        </p:txBody>
      </p:sp>
      <p:pic>
        <p:nvPicPr>
          <p:cNvPr id="11" name="Image 2" descr="preencoded.png"/>
          <p:cNvPicPr>
            <a:picLocks noChangeAspect="1"/>
          </p:cNvPicPr>
          <p:nvPr/>
        </p:nvPicPr>
        <p:blipFill>
          <a:blip r:embed="rId5"/>
          <a:stretch>
            <a:fillRect/>
          </a:stretch>
        </p:blipFill>
        <p:spPr>
          <a:xfrm>
            <a:off x="551017" y="2553553"/>
            <a:ext cx="159837" cy="159837"/>
          </a:xfrm>
          <a:prstGeom prst="rect">
            <a:avLst/>
          </a:prstGeom>
        </p:spPr>
      </p:pic>
      <p:sp>
        <p:nvSpPr>
          <p:cNvPr id="12" name="Text 7"/>
          <p:cNvSpPr txBox="1"/>
          <p:nvPr/>
        </p:nvSpPr>
        <p:spPr>
          <a:xfrm>
            <a:off x="960120" y="2459736"/>
            <a:ext cx="3429000" cy="347472"/>
          </a:xfrm>
          <a:prstGeom prst="rect">
            <a:avLst/>
          </a:prstGeom>
          <a:noFill/>
          <a:ln/>
        </p:spPr>
        <p:txBody>
          <a:bodyPr wrap="square" lIns="0" tIns="0" rIns="0" bIns="0" rtlCol="0" anchor="ctr"/>
          <a:lstStyle/>
          <a:p>
            <a:pPr marL="0" indent="0">
              <a:buNone/>
            </a:pPr>
            <a:r>
              <a:rPr lang="en-US" sz="1300" dirty="0">
                <a:solidFill>
                  <a:schemeClr val="tx1"/>
                </a:solidFill>
              </a:rPr>
              <a:t>Revoke a certificate and keep its history</a:t>
            </a:r>
            <a:endParaRPr lang="en-US" sz="1300" dirty="0"/>
          </a:p>
        </p:txBody>
      </p:sp>
      <p:sp>
        <p:nvSpPr>
          <p:cNvPr id="13" name="Shape 8"/>
          <p:cNvSpPr/>
          <p:nvPr/>
        </p:nvSpPr>
        <p:spPr>
          <a:xfrm>
            <a:off x="457200" y="2935224"/>
            <a:ext cx="347472" cy="347472"/>
          </a:xfrm>
          <a:prstGeom prst="ellipse">
            <a:avLst/>
          </a:prstGeom>
          <a:solidFill>
            <a:srgbClr val="0F766E"/>
          </a:solidFill>
          <a:ln w="12700">
            <a:solidFill>
              <a:srgbClr val="0F766E"/>
            </a:solidFill>
            <a:prstDash val="solid"/>
          </a:ln>
        </p:spPr>
        <p:txBody>
          <a:bodyPr/>
          <a:lstStyle/>
          <a:p>
            <a:endParaRPr lang="en-IN" dirty="0"/>
          </a:p>
        </p:txBody>
      </p:sp>
      <p:pic>
        <p:nvPicPr>
          <p:cNvPr id="14" name="Image 3" descr="preencoded.png"/>
          <p:cNvPicPr>
            <a:picLocks noChangeAspect="1"/>
          </p:cNvPicPr>
          <p:nvPr/>
        </p:nvPicPr>
        <p:blipFill>
          <a:blip r:embed="rId6"/>
          <a:stretch>
            <a:fillRect/>
          </a:stretch>
        </p:blipFill>
        <p:spPr>
          <a:xfrm>
            <a:off x="551017" y="3029041"/>
            <a:ext cx="159837" cy="159837"/>
          </a:xfrm>
          <a:prstGeom prst="rect">
            <a:avLst/>
          </a:prstGeom>
        </p:spPr>
      </p:pic>
      <p:sp>
        <p:nvSpPr>
          <p:cNvPr id="15" name="Text 9"/>
          <p:cNvSpPr txBox="1"/>
          <p:nvPr/>
        </p:nvSpPr>
        <p:spPr>
          <a:xfrm>
            <a:off x="960120" y="2935224"/>
            <a:ext cx="3429000" cy="347472"/>
          </a:xfrm>
          <a:prstGeom prst="rect">
            <a:avLst/>
          </a:prstGeom>
          <a:noFill/>
          <a:ln/>
        </p:spPr>
        <p:txBody>
          <a:bodyPr wrap="square" lIns="0" tIns="0" rIns="0" bIns="0" rtlCol="0" anchor="ctr"/>
          <a:lstStyle/>
          <a:p>
            <a:pPr marL="0" indent="0">
              <a:buNone/>
            </a:pPr>
            <a:r>
              <a:rPr lang="en-US" sz="1300" dirty="0">
                <a:solidFill>
                  <a:schemeClr val="tx1"/>
                </a:solidFill>
              </a:rPr>
              <a:t>Only admins can issue or change records</a:t>
            </a:r>
            <a:endParaRPr lang="en-US" sz="1300" dirty="0"/>
          </a:p>
        </p:txBody>
      </p:sp>
      <p:sp>
        <p:nvSpPr>
          <p:cNvPr id="16" name="Text 10"/>
          <p:cNvSpPr txBox="1"/>
          <p:nvPr/>
        </p:nvSpPr>
        <p:spPr>
          <a:xfrm>
            <a:off x="4754880" y="114300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Future scope</a:t>
            </a:r>
            <a:endParaRPr lang="en-US" sz="1500" dirty="0"/>
          </a:p>
        </p:txBody>
      </p:sp>
      <p:sp>
        <p:nvSpPr>
          <p:cNvPr id="17" name="Text 11"/>
          <p:cNvSpPr txBox="1"/>
          <p:nvPr/>
        </p:nvSpPr>
        <p:spPr>
          <a:xfrm>
            <a:off x="4754880" y="1508760"/>
            <a:ext cx="3931920" cy="192024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QR code on each certificate</a:t>
            </a:r>
            <a:endParaRPr lang="en-US" sz="1400" dirty="0"/>
          </a:p>
          <a:p>
            <a:pPr marL="203200" indent="-203200">
              <a:spcAft>
                <a:spcPts val="500"/>
              </a:spcAft>
              <a:buSzPct val="100000"/>
              <a:buChar char="•"/>
            </a:pPr>
            <a:r>
              <a:rPr lang="en-US" sz="1400" dirty="0">
                <a:solidFill>
                  <a:schemeClr val="tx1"/>
                </a:solidFill>
              </a:rPr>
              <a:t>Auto-generated PDF certificates</a:t>
            </a:r>
            <a:endParaRPr lang="en-US" sz="1400" dirty="0"/>
          </a:p>
          <a:p>
            <a:pPr marL="203200" indent="-203200">
              <a:spcAft>
                <a:spcPts val="500"/>
              </a:spcAft>
              <a:buSzPct val="100000"/>
              <a:buChar char="•"/>
            </a:pPr>
            <a:r>
              <a:rPr lang="en-US" sz="1400" dirty="0">
                <a:solidFill>
                  <a:schemeClr val="tx1"/>
                </a:solidFill>
              </a:rPr>
              <a:t>Bulk upload using CSV</a:t>
            </a:r>
            <a:endParaRPr lang="en-US" sz="1400" dirty="0"/>
          </a:p>
          <a:p>
            <a:pPr marL="203200" indent="-203200">
              <a:spcAft>
                <a:spcPts val="500"/>
              </a:spcAft>
              <a:buSzPct val="100000"/>
              <a:buChar char="•"/>
            </a:pPr>
            <a:r>
              <a:rPr lang="en-US" sz="1400" dirty="0">
                <a:solidFill>
                  <a:schemeClr val="tx1"/>
                </a:solidFill>
              </a:rPr>
              <a:t>Email notification to students</a:t>
            </a:r>
            <a:endParaRPr lang="en-US" sz="1400" dirty="0"/>
          </a:p>
          <a:p>
            <a:pPr marL="203200" indent="-203200">
              <a:spcAft>
                <a:spcPts val="500"/>
              </a:spcAft>
              <a:buSzPct val="100000"/>
              <a:buChar char="•"/>
            </a:pPr>
            <a:r>
              <a:rPr lang="en-US" sz="1400" dirty="0">
                <a:solidFill>
                  <a:schemeClr val="tx1"/>
                </a:solidFill>
              </a:rPr>
              <a:t>Optional blockchain anchoring</a:t>
            </a:r>
            <a:endParaRPr lang="en-US" sz="1400" dirty="0"/>
          </a:p>
        </p:txBody>
      </p:sp>
      <p:sp>
        <p:nvSpPr>
          <p:cNvPr id="18" name="Feasibility"/>
          <p:cNvSpPr/>
          <p:nvPr/>
        </p:nvSpPr>
        <p:spPr>
          <a:xfrm>
            <a:off x="457200" y="3611880"/>
            <a:ext cx="4023360" cy="868680"/>
          </a:xfrm>
          <a:prstGeom prst="roundRect">
            <a:avLst>
              <a:gd name="adj" fmla="val 8421"/>
            </a:avLst>
          </a:prstGeom>
          <a:solidFill>
            <a:srgbClr val="F1F5F9"/>
          </a:solidFill>
          <a:ln w="12700">
            <a:solidFill>
              <a:srgbClr val="F1F5F9"/>
            </a:solidFill>
            <a:prstDash val="solid"/>
          </a:ln>
        </p:spPr>
        <p:txBody>
          <a:bodyPr/>
          <a:lstStyle/>
          <a:p>
            <a:endParaRPr lang="en-IN" dirty="0"/>
          </a:p>
        </p:txBody>
      </p:sp>
      <p:sp>
        <p:nvSpPr>
          <p:cNvPr id="19" name="Text 13"/>
          <p:cNvSpPr txBox="1"/>
          <p:nvPr/>
        </p:nvSpPr>
        <p:spPr>
          <a:xfrm>
            <a:off x="640080" y="3611880"/>
            <a:ext cx="3657600" cy="868680"/>
          </a:xfrm>
          <a:prstGeom prst="rect">
            <a:avLst/>
          </a:prstGeom>
          <a:noFill/>
          <a:ln/>
        </p:spPr>
        <p:txBody>
          <a:bodyPr wrap="square" lIns="0" tIns="0" rIns="0" bIns="0" rtlCol="0" anchor="ctr"/>
          <a:lstStyle/>
          <a:p>
            <a:pPr marL="0" indent="0">
              <a:buNone/>
            </a:pPr>
            <a:r>
              <a:rPr lang="en-US" sz="1400" b="1" dirty="0">
                <a:solidFill>
                  <a:schemeClr val="accent1"/>
                </a:solidFill>
              </a:rPr>
              <a:t>Feasibility</a:t>
            </a:r>
            <a:endParaRPr lang="en-US" sz="1400" dirty="0"/>
          </a:p>
          <a:p>
            <a:pPr marL="0" indent="0">
              <a:buNone/>
            </a:pPr>
            <a:r>
              <a:rPr lang="en-US" sz="1200" dirty="0">
                <a:solidFill>
                  <a:schemeClr val="tx1"/>
                </a:solidFill>
              </a:rPr>
              <a:t>Built on standard MERN tools; core features are achievable within the hackathon.</a:t>
            </a:r>
            <a:endParaRPr lang="en-US" sz="1400" dirty="0"/>
          </a:p>
        </p:txBody>
      </p:sp>
      <p:sp>
        <p:nvSpPr>
          <p:cNvPr id="20" name="Impact"/>
          <p:cNvSpPr/>
          <p:nvPr/>
        </p:nvSpPr>
        <p:spPr>
          <a:xfrm>
            <a:off x="4663440" y="3611880"/>
            <a:ext cx="4023360" cy="868680"/>
          </a:xfrm>
          <a:prstGeom prst="roundRect">
            <a:avLst>
              <a:gd name="adj" fmla="val 8421"/>
            </a:avLst>
          </a:prstGeom>
          <a:solidFill>
            <a:srgbClr val="F1F5F9"/>
          </a:solidFill>
          <a:ln w="12700">
            <a:solidFill>
              <a:srgbClr val="F1F5F9"/>
            </a:solidFill>
            <a:prstDash val="solid"/>
          </a:ln>
        </p:spPr>
        <p:txBody>
          <a:bodyPr/>
          <a:lstStyle/>
          <a:p>
            <a:endParaRPr lang="en-IN" dirty="0"/>
          </a:p>
        </p:txBody>
      </p:sp>
      <p:sp>
        <p:nvSpPr>
          <p:cNvPr id="21" name="Text 15"/>
          <p:cNvSpPr txBox="1"/>
          <p:nvPr/>
        </p:nvSpPr>
        <p:spPr>
          <a:xfrm>
            <a:off x="4846320" y="3611880"/>
            <a:ext cx="3657600" cy="868680"/>
          </a:xfrm>
          <a:prstGeom prst="rect">
            <a:avLst/>
          </a:prstGeom>
          <a:noFill/>
          <a:ln/>
        </p:spPr>
        <p:txBody>
          <a:bodyPr wrap="square" lIns="0" tIns="0" rIns="0" bIns="0" rtlCol="0" anchor="ctr"/>
          <a:lstStyle/>
          <a:p>
            <a:pPr marL="0" indent="0">
              <a:buNone/>
            </a:pPr>
            <a:r>
              <a:rPr lang="en-US" sz="1400" b="1" dirty="0">
                <a:solidFill>
                  <a:schemeClr val="accent1"/>
                </a:solidFill>
              </a:rPr>
              <a:t>Potential impact</a:t>
            </a:r>
            <a:endParaRPr lang="en-US" sz="1400" dirty="0"/>
          </a:p>
          <a:p>
            <a:pPr marL="0" indent="0">
              <a:buNone/>
            </a:pPr>
            <a:r>
              <a:rPr lang="en-US" sz="1200" dirty="0">
                <a:solidFill>
                  <a:schemeClr val="tx1"/>
                </a:solidFill>
              </a:rPr>
              <a:t>Faster, more trustworthy checks for institutions and employers.</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Conclusion</a:t>
            </a:r>
            <a:endParaRPr lang="en-US" sz="2800" dirty="0"/>
          </a:p>
        </p:txBody>
      </p:sp>
      <p:sp>
        <p:nvSpPr>
          <p:cNvPr id="3" name="Text 1"/>
          <p:cNvSpPr txBox="1"/>
          <p:nvPr/>
        </p:nvSpPr>
        <p:spPr>
          <a:xfrm>
            <a:off x="457200" y="118872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Key takeaways</a:t>
            </a:r>
            <a:endParaRPr lang="en-US" sz="1500" dirty="0"/>
          </a:p>
        </p:txBody>
      </p:sp>
      <p:sp>
        <p:nvSpPr>
          <p:cNvPr id="4" name="Shape 2"/>
          <p:cNvSpPr/>
          <p:nvPr/>
        </p:nvSpPr>
        <p:spPr>
          <a:xfrm>
            <a:off x="457200" y="1600200"/>
            <a:ext cx="365760" cy="365760"/>
          </a:xfrm>
          <a:prstGeom prst="ellipse">
            <a:avLst/>
          </a:prstGeom>
          <a:solidFill>
            <a:srgbClr val="0F766E"/>
          </a:solidFill>
          <a:ln w="12700">
            <a:solidFill>
              <a:srgbClr val="0F766E"/>
            </a:solidFill>
            <a:prstDash val="solid"/>
          </a:ln>
        </p:spPr>
        <p:txBody>
          <a:bodyPr/>
          <a:lstStyle/>
          <a:p>
            <a:endParaRPr lang="en-IN" dirty="0"/>
          </a:p>
        </p:txBody>
      </p:sp>
      <p:pic>
        <p:nvPicPr>
          <p:cNvPr id="5" name="Image 0" descr="preencoded.png"/>
          <p:cNvPicPr>
            <a:picLocks noChangeAspect="1"/>
          </p:cNvPicPr>
          <p:nvPr/>
        </p:nvPicPr>
        <p:blipFill>
          <a:blip r:embed="rId3"/>
          <a:stretch>
            <a:fillRect/>
          </a:stretch>
        </p:blipFill>
        <p:spPr>
          <a:xfrm>
            <a:off x="555955" y="1698955"/>
            <a:ext cx="168250" cy="168250"/>
          </a:xfrm>
          <a:prstGeom prst="rect">
            <a:avLst/>
          </a:prstGeom>
        </p:spPr>
      </p:pic>
      <p:sp>
        <p:nvSpPr>
          <p:cNvPr id="6" name="Text 3"/>
          <p:cNvSpPr txBox="1"/>
          <p:nvPr/>
        </p:nvSpPr>
        <p:spPr>
          <a:xfrm>
            <a:off x="960120" y="1600200"/>
            <a:ext cx="3474720" cy="502920"/>
          </a:xfrm>
          <a:prstGeom prst="rect">
            <a:avLst/>
          </a:prstGeom>
          <a:noFill/>
          <a:ln/>
        </p:spPr>
        <p:txBody>
          <a:bodyPr wrap="square" lIns="0" tIns="0" rIns="0" bIns="0" rtlCol="0" anchor="ctr"/>
          <a:lstStyle/>
          <a:p>
            <a:pPr marL="0" indent="0">
              <a:buNone/>
            </a:pPr>
            <a:r>
              <a:rPr lang="en-US" sz="1400" dirty="0">
                <a:solidFill>
                  <a:schemeClr val="tx1"/>
                </a:solidFill>
              </a:rPr>
              <a:t>Full MERN app with CRUD, REST APIs and a React UI</a:t>
            </a:r>
            <a:endParaRPr lang="en-US" sz="1400" dirty="0"/>
          </a:p>
        </p:txBody>
      </p:sp>
      <p:sp>
        <p:nvSpPr>
          <p:cNvPr id="7" name="Shape 4"/>
          <p:cNvSpPr/>
          <p:nvPr/>
        </p:nvSpPr>
        <p:spPr>
          <a:xfrm>
            <a:off x="457200" y="2167128"/>
            <a:ext cx="365760" cy="365760"/>
          </a:xfrm>
          <a:prstGeom prst="ellipse">
            <a:avLst/>
          </a:prstGeom>
          <a:solidFill>
            <a:srgbClr val="0F766E"/>
          </a:solidFill>
          <a:ln w="12700">
            <a:solidFill>
              <a:srgbClr val="0F766E"/>
            </a:solidFill>
            <a:prstDash val="solid"/>
          </a:ln>
        </p:spPr>
        <p:txBody>
          <a:bodyPr/>
          <a:lstStyle/>
          <a:p>
            <a:endParaRPr lang="en-IN" dirty="0"/>
          </a:p>
        </p:txBody>
      </p:sp>
      <p:pic>
        <p:nvPicPr>
          <p:cNvPr id="8" name="Image 1" descr="preencoded.png"/>
          <p:cNvPicPr>
            <a:picLocks noChangeAspect="1"/>
          </p:cNvPicPr>
          <p:nvPr/>
        </p:nvPicPr>
        <p:blipFill>
          <a:blip r:embed="rId3"/>
          <a:stretch>
            <a:fillRect/>
          </a:stretch>
        </p:blipFill>
        <p:spPr>
          <a:xfrm>
            <a:off x="555955" y="2265883"/>
            <a:ext cx="168250" cy="168250"/>
          </a:xfrm>
          <a:prstGeom prst="rect">
            <a:avLst/>
          </a:prstGeom>
        </p:spPr>
      </p:pic>
      <p:sp>
        <p:nvSpPr>
          <p:cNvPr id="9" name="Text 5"/>
          <p:cNvSpPr txBox="1"/>
          <p:nvPr/>
        </p:nvSpPr>
        <p:spPr>
          <a:xfrm>
            <a:off x="960120" y="2167128"/>
            <a:ext cx="3474720" cy="502920"/>
          </a:xfrm>
          <a:prstGeom prst="rect">
            <a:avLst/>
          </a:prstGeom>
          <a:noFill/>
          <a:ln/>
        </p:spPr>
        <p:txBody>
          <a:bodyPr wrap="square" lIns="0" tIns="0" rIns="0" bIns="0" rtlCol="0" anchor="ctr"/>
          <a:lstStyle/>
          <a:p>
            <a:pPr marL="0" indent="0">
              <a:buNone/>
            </a:pPr>
            <a:r>
              <a:rPr lang="en-US" sz="1400" dirty="0">
                <a:solidFill>
                  <a:schemeClr val="tx1"/>
                </a:solidFill>
              </a:rPr>
              <a:t>Secure login with role-based access</a:t>
            </a:r>
            <a:endParaRPr lang="en-US" sz="1400" dirty="0"/>
          </a:p>
        </p:txBody>
      </p:sp>
      <p:sp>
        <p:nvSpPr>
          <p:cNvPr id="10" name="Shape 6"/>
          <p:cNvSpPr/>
          <p:nvPr/>
        </p:nvSpPr>
        <p:spPr>
          <a:xfrm>
            <a:off x="457200" y="2734056"/>
            <a:ext cx="365760" cy="365760"/>
          </a:xfrm>
          <a:prstGeom prst="ellipse">
            <a:avLst/>
          </a:prstGeom>
          <a:solidFill>
            <a:srgbClr val="0F766E"/>
          </a:solidFill>
          <a:ln w="12700">
            <a:solidFill>
              <a:srgbClr val="0F766E"/>
            </a:solidFill>
            <a:prstDash val="solid"/>
          </a:ln>
        </p:spPr>
        <p:txBody>
          <a:bodyPr/>
          <a:lstStyle/>
          <a:p>
            <a:endParaRPr lang="en-IN" dirty="0"/>
          </a:p>
        </p:txBody>
      </p:sp>
      <p:pic>
        <p:nvPicPr>
          <p:cNvPr id="11" name="Image 2" descr="preencoded.png"/>
          <p:cNvPicPr>
            <a:picLocks noChangeAspect="1"/>
          </p:cNvPicPr>
          <p:nvPr/>
        </p:nvPicPr>
        <p:blipFill>
          <a:blip r:embed="rId3"/>
          <a:stretch>
            <a:fillRect/>
          </a:stretch>
        </p:blipFill>
        <p:spPr>
          <a:xfrm>
            <a:off x="555955" y="2832811"/>
            <a:ext cx="168250" cy="168250"/>
          </a:xfrm>
          <a:prstGeom prst="rect">
            <a:avLst/>
          </a:prstGeom>
        </p:spPr>
      </p:pic>
      <p:sp>
        <p:nvSpPr>
          <p:cNvPr id="12" name="Text 7"/>
          <p:cNvSpPr txBox="1"/>
          <p:nvPr/>
        </p:nvSpPr>
        <p:spPr>
          <a:xfrm>
            <a:off x="960120" y="2734056"/>
            <a:ext cx="3474720" cy="502920"/>
          </a:xfrm>
          <a:prstGeom prst="rect">
            <a:avLst/>
          </a:prstGeom>
          <a:noFill/>
          <a:ln/>
        </p:spPr>
        <p:txBody>
          <a:bodyPr wrap="square" lIns="0" tIns="0" rIns="0" bIns="0" rtlCol="0" anchor="ctr"/>
          <a:lstStyle/>
          <a:p>
            <a:pPr marL="0" indent="0">
              <a:buNone/>
            </a:pPr>
            <a:r>
              <a:rPr lang="en-US" sz="1400" dirty="0">
                <a:solidFill>
                  <a:schemeClr val="tx1"/>
                </a:solidFill>
              </a:rPr>
              <a:t>Certificates can be verified by ID in seconds</a:t>
            </a:r>
            <a:endParaRPr lang="en-US" sz="1400" dirty="0"/>
          </a:p>
        </p:txBody>
      </p:sp>
      <p:sp>
        <p:nvSpPr>
          <p:cNvPr id="13" name="Text 8"/>
          <p:cNvSpPr txBox="1"/>
          <p:nvPr/>
        </p:nvSpPr>
        <p:spPr>
          <a:xfrm>
            <a:off x="4754880" y="118872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Expected impact</a:t>
            </a:r>
            <a:endParaRPr lang="en-US" sz="1500" dirty="0"/>
          </a:p>
        </p:txBody>
      </p:sp>
      <p:sp>
        <p:nvSpPr>
          <p:cNvPr id="14" name="Text 9"/>
          <p:cNvSpPr txBox="1"/>
          <p:nvPr/>
        </p:nvSpPr>
        <p:spPr>
          <a:xfrm>
            <a:off x="4754880" y="1600200"/>
            <a:ext cx="3931920" cy="1554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Less manual checking for organizations</a:t>
            </a:r>
            <a:endParaRPr lang="en-US" sz="1400" dirty="0"/>
          </a:p>
          <a:p>
            <a:pPr marL="203200" indent="-203200">
              <a:spcAft>
                <a:spcPts val="800"/>
              </a:spcAft>
              <a:buSzPct val="100000"/>
              <a:buChar char="•"/>
            </a:pPr>
            <a:r>
              <a:rPr lang="en-US" sz="1400" dirty="0">
                <a:solidFill>
                  <a:schemeClr val="tx1"/>
                </a:solidFill>
              </a:rPr>
              <a:t>More trust in issued certificates</a:t>
            </a:r>
            <a:endParaRPr lang="en-US" sz="1400" dirty="0"/>
          </a:p>
          <a:p>
            <a:pPr marL="203200" indent="-203200">
              <a:spcAft>
                <a:spcPts val="800"/>
              </a:spcAft>
              <a:buSzPct val="100000"/>
              <a:buChar char="•"/>
            </a:pPr>
            <a:r>
              <a:rPr lang="en-US" sz="1400" dirty="0">
                <a:solidFill>
                  <a:schemeClr val="tx1"/>
                </a:solidFill>
              </a:rPr>
              <a:t>One place for all certificate records</a:t>
            </a:r>
            <a:endParaRPr lang="en-US" sz="1400" dirty="0"/>
          </a:p>
        </p:txBody>
      </p:sp>
      <p:sp>
        <p:nvSpPr>
          <p:cNvPr id="15" name="Shape 10"/>
          <p:cNvSpPr/>
          <p:nvPr/>
        </p:nvSpPr>
        <p:spPr>
          <a:xfrm>
            <a:off x="457200" y="3474720"/>
            <a:ext cx="8229600" cy="0"/>
          </a:xfrm>
          <a:prstGeom prst="line">
            <a:avLst/>
          </a:prstGeom>
          <a:noFill/>
          <a:ln w="12700">
            <a:solidFill>
              <a:srgbClr val="CBD5E1"/>
            </a:solidFill>
            <a:prstDash val="solid"/>
          </a:ln>
        </p:spPr>
        <p:txBody>
          <a:bodyPr/>
          <a:lstStyle/>
          <a:p>
            <a:endParaRPr lang="en-IN" dirty="0"/>
          </a:p>
        </p:txBody>
      </p:sp>
      <p:sp>
        <p:nvSpPr>
          <p:cNvPr id="16" name="Text 11"/>
          <p:cNvSpPr txBox="1"/>
          <p:nvPr/>
        </p:nvSpPr>
        <p:spPr>
          <a:xfrm>
            <a:off x="457200" y="3611880"/>
            <a:ext cx="8229600" cy="594360"/>
          </a:xfrm>
          <a:prstGeom prst="rect">
            <a:avLst/>
          </a:prstGeom>
          <a:noFill/>
          <a:ln/>
        </p:spPr>
        <p:txBody>
          <a:bodyPr wrap="square" lIns="0" tIns="0" rIns="0" bIns="0" rtlCol="0" anchor="ctr"/>
          <a:lstStyle/>
          <a:p>
            <a:pPr marL="0" indent="0" algn="ctr">
              <a:buNone/>
            </a:pPr>
            <a:r>
              <a:rPr lang="en-US" sz="3600" b="1" dirty="0">
                <a:solidFill>
                  <a:schemeClr val="accent1"/>
                </a:solidFill>
                <a:latin typeface="Arial" pitchFamily="34" charset="0"/>
                <a:ea typeface="Arial" pitchFamily="34" charset="-122"/>
                <a:cs typeface="Arial" pitchFamily="34" charset="-120"/>
              </a:rPr>
              <a:t>Thank You!</a:t>
            </a:r>
            <a:endParaRPr lang="en-US" sz="3600" dirty="0"/>
          </a:p>
        </p:txBody>
      </p:sp>
      <p:sp>
        <p:nvSpPr>
          <p:cNvPr id="17" name="Text 12"/>
          <p:cNvSpPr txBox="1"/>
          <p:nvPr/>
        </p:nvSpPr>
        <p:spPr>
          <a:xfrm>
            <a:off x="457200" y="4206240"/>
            <a:ext cx="8229600" cy="320040"/>
          </a:xfrm>
          <a:prstGeom prst="rect">
            <a:avLst/>
          </a:prstGeom>
          <a:noFill/>
          <a:ln/>
        </p:spPr>
        <p:txBody>
          <a:bodyPr wrap="square" lIns="0" tIns="0" rIns="0" bIns="0" rtlCol="0" anchor="t"/>
          <a:lstStyle/>
          <a:p>
            <a:pPr marL="0" indent="0" algn="ctr">
              <a:buNone/>
            </a:pPr>
            <a:r>
              <a:rPr lang="en-US" sz="1800" dirty="0">
                <a:solidFill>
                  <a:schemeClr val="accent3"/>
                </a:solidFill>
              </a:rPr>
              <a:t>Questions</a:t>
            </a:r>
            <a:endParaRPr lang="en-US" sz="18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7</a:t>
            </a:fld>
            <a:endParaRPr lang="en-US" dirty="0"/>
          </a:p>
        </p:txBody>
      </p:sp>
    </p:spTree>
  </p:cSld>
  <p:clrMapOvr>
    <a:masterClrMapping/>
  </p:clrMapOvr>
</p:sld>
</file>

<file path=ppt/theme/theme1.xml><?xml version="1.0" encoding="utf-8"?>
<a:theme xmlns:a="http://schemas.openxmlformats.org/drawingml/2006/main" name="CertVerify">
  <a:themeElements>
    <a:clrScheme name="CertVerify">
      <a:dk1>
        <a:srgbClr val="0F172A"/>
      </a:dk1>
      <a:lt1>
        <a:srgbClr val="FFFFFF"/>
      </a:lt1>
      <a:dk2>
        <a:srgbClr val="0F766E"/>
      </a:dk2>
      <a:lt2>
        <a:srgbClr val="F1F5F9"/>
      </a:lt2>
      <a:accent1>
        <a:srgbClr val="0F766E"/>
      </a:accent1>
      <a:accent2>
        <a:srgbClr val="F59E0B"/>
      </a:accent2>
      <a:accent3>
        <a:srgbClr val="334155"/>
      </a:accent3>
      <a:accent4>
        <a:srgbClr val="64748B"/>
      </a:accent4>
      <a:accent5>
        <a:srgbClr val="16A34A"/>
      </a:accent5>
      <a:accent6>
        <a:srgbClr val="DC2626"/>
      </a:accent6>
      <a:hlink>
        <a:srgbClr val="0F766E"/>
      </a:hlink>
      <a:folHlink>
        <a:srgbClr val="64748B"/>
      </a:folHlink>
    </a:clrScheme>
    <a:fontScheme name="CertVerif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742</Words>
  <Application>Microsoft Office PowerPoint</Application>
  <PresentationFormat>On-screen Show (16:9)</PresentationFormat>
  <Paragraphs>138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CertVerify</vt:lpstr>
      <vt:lpstr>CertiVerify</vt:lpstr>
      <vt:lpstr>Problem Statement</vt:lpstr>
      <vt:lpstr>Existing Solutions</vt:lpstr>
      <vt:lpstr>Proposed Solution</vt:lpstr>
      <vt:lpstr>Technical Implementation</vt:lpstr>
      <vt:lpstr>Innovation and Future Scope</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CertVerify – Digital Certificate Verification</dc:title>
  <dc:subject>PptxGenJS Presentation</dc:subject>
  <dc:creator>M. Reddy Ponish, J. Purnasena</dc:creator>
  <cp:lastModifiedBy>manthan271006@gmail.com</cp:lastModifiedBy>
  <cp:revision>5</cp:revision>
  <dcterms:created xsi:type="dcterms:W3CDTF">2026-10-10T04:34:43Z</dcterms:created>
  <dcterms:modified xsi:type="dcterms:W3CDTF">2026-10-10T08:31:17Z</dcterms:modified>
</cp:coreProperties>
</file>